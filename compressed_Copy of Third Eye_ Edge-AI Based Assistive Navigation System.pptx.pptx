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Times New Roman Bold" charset="1" panose="02020803070505020304"/>
      <p:regular r:id="rId30"/>
    </p:embeddedFont>
    <p:embeddedFont>
      <p:font typeface="Times New Roman" charset="1" panose="020206030504050203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9.jpeg" Type="http://schemas.openxmlformats.org/officeDocument/2006/relationships/image"/><Relationship Id="rId4" Target="../media/image10.jpeg" Type="http://schemas.openxmlformats.org/officeDocument/2006/relationships/image"/><Relationship Id="rId5" Target="../media/image11.jpe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0.jpeg" Type="http://schemas.openxmlformats.org/officeDocument/2006/relationships/image"/><Relationship Id="rId4" Target="../media/image9.jpeg" Type="http://schemas.openxmlformats.org/officeDocument/2006/relationships/image"/><Relationship Id="rId5" Target="../media/image11.jpe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Relationship Id="rId4" Target="../media/image11.jpe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823710"/>
            <a:ext cx="6083044" cy="2434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FC7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</a:t>
            </a:r>
            <a:r>
              <a:rPr lang="en-US" sz="2700" b="true">
                <a:solidFill>
                  <a:srgbClr val="FFC7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esented by:</a:t>
            </a:r>
          </a:p>
          <a:p>
            <a:pPr algn="just">
              <a:lnSpc>
                <a:spcPts val="4050"/>
              </a:lnSpc>
            </a:pPr>
            <a:r>
              <a:rPr lang="en-US" sz="2700" b="true">
                <a:solidFill>
                  <a:srgbClr val="FFC7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/>
            </a:r>
            <a:r>
              <a:rPr lang="en-US" sz="2700" b="true">
                <a:solidFill>
                  <a:srgbClr val="FFC7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M. Gowtham (610922243009)</a:t>
            </a:r>
          </a:p>
          <a:p>
            <a:pPr algn="just">
              <a:lnSpc>
                <a:spcPts val="4050"/>
              </a:lnSpc>
            </a:pPr>
            <a:r>
              <a:rPr lang="en-US" sz="2700" b="true">
                <a:solidFill>
                  <a:srgbClr val="FFC7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/>
            </a:r>
            <a:r>
              <a:rPr lang="en-US" sz="2700" b="true">
                <a:solidFill>
                  <a:srgbClr val="FFC7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D. Karthick (610922243013)</a:t>
            </a:r>
          </a:p>
          <a:p>
            <a:pPr algn="just">
              <a:lnSpc>
                <a:spcPts val="4050"/>
              </a:lnSpc>
            </a:pPr>
            <a:r>
              <a:rPr lang="en-US" sz="2700" b="true">
                <a:solidFill>
                  <a:srgbClr val="FFC7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/>
            </a:r>
            <a:r>
              <a:rPr lang="en-US" sz="2700" b="true">
                <a:solidFill>
                  <a:srgbClr val="FFC7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R. Ramakrishnan (610922243033)</a:t>
            </a:r>
          </a:p>
          <a:p>
            <a:pPr algn="just">
              <a:lnSpc>
                <a:spcPts val="4050"/>
              </a:lnSpc>
            </a:pPr>
            <a:r>
              <a:rPr lang="en-US" sz="2700" b="true">
                <a:solidFill>
                  <a:srgbClr val="FFC7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/>
            </a:r>
            <a:r>
              <a:rPr lang="en-US" sz="2700" b="true">
                <a:solidFill>
                  <a:srgbClr val="FFC7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S. Raman (610922243034)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791606" y="6833235"/>
            <a:ext cx="3625422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C7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Guided by: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C7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/>
            </a:r>
            <a:r>
              <a:rPr lang="en-US" sz="2400" b="true">
                <a:solidFill>
                  <a:srgbClr val="FFC7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R.K</a:t>
            </a:r>
            <a:r>
              <a:rPr lang="en-US" sz="2400" b="true">
                <a:solidFill>
                  <a:srgbClr val="FFC7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arthik AP/AI&amp;DS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555442" y="7185660"/>
            <a:ext cx="530647" cy="531495"/>
            <a:chOff x="0" y="0"/>
            <a:chExt cx="707530" cy="7086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7517" cy="708660"/>
            </a:xfrm>
            <a:custGeom>
              <a:avLst/>
              <a:gdLst/>
              <a:ahLst/>
              <a:cxnLst/>
              <a:rect r="r" b="b" t="t" l="l"/>
              <a:pathLst>
                <a:path h="708660" w="707517">
                  <a:moveTo>
                    <a:pt x="0" y="354330"/>
                  </a:moveTo>
                  <a:cubicBezTo>
                    <a:pt x="0" y="158623"/>
                    <a:pt x="158369" y="0"/>
                    <a:pt x="353822" y="0"/>
                  </a:cubicBezTo>
                  <a:cubicBezTo>
                    <a:pt x="549275" y="0"/>
                    <a:pt x="707517" y="158623"/>
                    <a:pt x="707517" y="354330"/>
                  </a:cubicBezTo>
                  <a:cubicBezTo>
                    <a:pt x="707517" y="550037"/>
                    <a:pt x="549148" y="708660"/>
                    <a:pt x="353822" y="708660"/>
                  </a:cubicBezTo>
                  <a:cubicBezTo>
                    <a:pt x="158496" y="708660"/>
                    <a:pt x="0" y="550037"/>
                    <a:pt x="0" y="354330"/>
                  </a:cubicBezTo>
                  <a:close/>
                </a:path>
              </a:pathLst>
            </a:custGeom>
            <a:solidFill>
              <a:srgbClr val="E7C67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365733" y="7204710"/>
            <a:ext cx="530647" cy="531495"/>
            <a:chOff x="0" y="0"/>
            <a:chExt cx="707530" cy="7086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7517" cy="708660"/>
            </a:xfrm>
            <a:custGeom>
              <a:avLst/>
              <a:gdLst/>
              <a:ahLst/>
              <a:cxnLst/>
              <a:rect r="r" b="b" t="t" l="l"/>
              <a:pathLst>
                <a:path h="708660" w="707517">
                  <a:moveTo>
                    <a:pt x="0" y="354330"/>
                  </a:moveTo>
                  <a:cubicBezTo>
                    <a:pt x="0" y="158623"/>
                    <a:pt x="158369" y="0"/>
                    <a:pt x="353822" y="0"/>
                  </a:cubicBezTo>
                  <a:cubicBezTo>
                    <a:pt x="549275" y="0"/>
                    <a:pt x="707517" y="158623"/>
                    <a:pt x="707517" y="354330"/>
                  </a:cubicBezTo>
                  <a:cubicBezTo>
                    <a:pt x="707517" y="550037"/>
                    <a:pt x="549148" y="708660"/>
                    <a:pt x="353822" y="708660"/>
                  </a:cubicBezTo>
                  <a:cubicBezTo>
                    <a:pt x="158496" y="708660"/>
                    <a:pt x="0" y="550037"/>
                    <a:pt x="0" y="354330"/>
                  </a:cubicBezTo>
                  <a:close/>
                </a:path>
              </a:pathLst>
            </a:custGeom>
            <a:solidFill>
              <a:srgbClr val="E7C671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5367587" y="5086350"/>
            <a:ext cx="6934349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sz="3000">
                <a:solidFill>
                  <a:srgbClr val="5CE1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B.Tech Artificial Intelligence &amp; Data Science</a:t>
            </a:r>
          </a:p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sz="3000">
                <a:solidFill>
                  <a:srgbClr val="5CE1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Jayalakshmi Institute of Technology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1087" y="1291717"/>
            <a:ext cx="16905827" cy="253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  <a:spcBef>
                <a:spcPct val="0"/>
              </a:spcBef>
            </a:pPr>
            <a:r>
              <a:rPr lang="en-US" b="true" sz="5000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On-Device R</a:t>
            </a:r>
            <a:r>
              <a:rPr lang="en-US" b="true" sz="5000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eal-Time Zonal Obstacle Detection and Audio-Haptic</a:t>
            </a:r>
          </a:p>
          <a:p>
            <a:pPr algn="ctr">
              <a:lnSpc>
                <a:spcPts val="6600"/>
              </a:lnSpc>
              <a:spcBef>
                <a:spcPct val="0"/>
              </a:spcBef>
            </a:pPr>
            <a:r>
              <a:rPr lang="en-US" b="true" sz="5000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Feedback for the Visually Impaired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917527" y="2848921"/>
            <a:ext cx="6452946" cy="5481221"/>
            <a:chOff x="0" y="0"/>
            <a:chExt cx="8603928" cy="730829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603926" cy="7308295"/>
            </a:xfrm>
            <a:custGeom>
              <a:avLst/>
              <a:gdLst/>
              <a:ahLst/>
              <a:cxnLst/>
              <a:rect r="r" b="b" t="t" l="l"/>
              <a:pathLst>
                <a:path h="7308295" w="8603926">
                  <a:moveTo>
                    <a:pt x="0" y="0"/>
                  </a:moveTo>
                  <a:lnTo>
                    <a:pt x="8603926" y="0"/>
                  </a:lnTo>
                  <a:lnTo>
                    <a:pt x="8603926" y="7308295"/>
                  </a:lnTo>
                  <a:lnTo>
                    <a:pt x="0" y="73082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06" r="-48955" b="56968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38125"/>
              <a:ext cx="8603928" cy="7546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marL="734059" indent="-367030" lvl="1">
                <a:lnSpc>
                  <a:spcPts val="6323"/>
                </a:lnSpc>
                <a:buAutoNum type="arabicPeriod" startAt="1"/>
              </a:pPr>
              <a:r>
                <a:rPr lang="en-US" sz="3399" spc="57">
                  <a:solidFill>
                    <a:srgbClr val="E7C67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Problem &amp; Motivation  </a:t>
              </a:r>
            </a:p>
            <a:p>
              <a:pPr algn="just" marL="734059" indent="-367030" lvl="1">
                <a:lnSpc>
                  <a:spcPts val="6323"/>
                </a:lnSpc>
                <a:buAutoNum type="arabicPeriod" startAt="1"/>
              </a:pPr>
              <a:r>
                <a:rPr lang="en-US" sz="3399" spc="57">
                  <a:solidFill>
                    <a:srgbClr val="E7C67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Objectives &amp; Edge AI  </a:t>
              </a:r>
            </a:p>
            <a:p>
              <a:pPr algn="just" marL="734059" indent="-367030" lvl="1">
                <a:lnSpc>
                  <a:spcPts val="6323"/>
                </a:lnSpc>
                <a:buAutoNum type="arabicPeriod" startAt="1"/>
              </a:pPr>
              <a:r>
                <a:rPr lang="en-US" sz="3399" spc="57">
                  <a:solidFill>
                    <a:srgbClr val="E7C67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Architecture &amp; Hardware  </a:t>
              </a:r>
            </a:p>
            <a:p>
              <a:pPr algn="just" marL="734059" indent="-367030" lvl="1">
                <a:lnSpc>
                  <a:spcPts val="6323"/>
                </a:lnSpc>
                <a:buAutoNum type="arabicPeriod" startAt="1"/>
              </a:pPr>
              <a:r>
                <a:rPr lang="en-US" sz="3399" spc="57">
                  <a:solidFill>
                    <a:srgbClr val="E7C67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Software &amp; Optimization  </a:t>
              </a:r>
            </a:p>
            <a:p>
              <a:pPr algn="just" marL="734059" indent="-367030" lvl="1">
                <a:lnSpc>
                  <a:spcPts val="6323"/>
                </a:lnSpc>
                <a:buAutoNum type="arabicPeriod" startAt="1"/>
              </a:pPr>
              <a:r>
                <a:rPr lang="en-US" sz="3399" spc="57">
                  <a:solidFill>
                    <a:srgbClr val="E7C67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Working &amp; Logic  </a:t>
              </a:r>
            </a:p>
            <a:p>
              <a:pPr algn="just" marL="734059" indent="-367030" lvl="1">
                <a:lnSpc>
                  <a:spcPts val="6323"/>
                </a:lnSpc>
                <a:buAutoNum type="arabicPeriod" startAt="1"/>
              </a:pPr>
              <a:r>
                <a:rPr lang="en-US" sz="3399" spc="57">
                  <a:solidFill>
                    <a:srgbClr val="E7C67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Results &amp; Feedback  </a:t>
              </a:r>
            </a:p>
            <a:p>
              <a:pPr algn="just" marL="734059" indent="-367030" lvl="1">
                <a:lnSpc>
                  <a:spcPts val="6323"/>
                </a:lnSpc>
                <a:buAutoNum type="arabicPeriod" startAt="1"/>
              </a:pPr>
              <a:r>
                <a:rPr lang="en-US" sz="3399" spc="57">
                  <a:solidFill>
                    <a:srgbClr val="E7C67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Conclusion &amp; Future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709767" y="876300"/>
            <a:ext cx="4868466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99"/>
              </a:lnSpc>
              <a:spcBef>
                <a:spcPct val="0"/>
              </a:spcBef>
            </a:pPr>
            <a:r>
              <a:rPr lang="en-US" b="true" sz="9999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Contents</a:t>
            </a:r>
          </a:p>
        </p:txBody>
      </p:sp>
    </p:spTree>
  </p:cSld>
  <p:clrMapOvr>
    <a:masterClrMapping/>
  </p:clrMapOvr>
  <p:transition spd="fast">
    <p:cover dir="u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34301" y="3738753"/>
            <a:ext cx="10419398" cy="2609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68"/>
              </a:lnSpc>
            </a:pPr>
            <a:r>
              <a:rPr lang="en-US" b="true" sz="7200" spc="597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Motivation &amp; Problem Statement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12893" y="895350"/>
            <a:ext cx="3662214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00"/>
              </a:lnSpc>
              <a:spcBef>
                <a:spcPct val="0"/>
              </a:spcBef>
            </a:pPr>
            <a:r>
              <a:rPr lang="en-US" b="true" sz="7500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PART 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97673" y="7758464"/>
            <a:ext cx="7892653" cy="50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sz="300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imes New Roman"/>
                <a:ea typeface="Times New Roman"/>
                <a:cs typeface="Times New Roman"/>
                <a:sym typeface="Times New Roman"/>
              </a:rPr>
              <a:t>Understanding the real-world navigation challenges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5385240">
            <a:off x="7470962" y="7440482"/>
            <a:ext cx="3331788" cy="0"/>
          </a:xfrm>
          <a:prstGeom prst="line">
            <a:avLst/>
          </a:prstGeom>
          <a:ln cap="rnd" w="38100">
            <a:solidFill>
              <a:srgbClr val="E7C67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171575" y="478155"/>
            <a:ext cx="16199996" cy="1080135"/>
            <a:chOff x="0" y="0"/>
            <a:chExt cx="21599995" cy="14401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99999" cy="1440180"/>
            </a:xfrm>
            <a:custGeom>
              <a:avLst/>
              <a:gdLst/>
              <a:ahLst/>
              <a:cxnLst/>
              <a:rect r="r" b="b" t="t" l="l"/>
              <a:pathLst>
                <a:path h="1440180" w="21599999">
                  <a:moveTo>
                    <a:pt x="0" y="0"/>
                  </a:moveTo>
                  <a:lnTo>
                    <a:pt x="21599999" y="0"/>
                  </a:lnTo>
                  <a:lnTo>
                    <a:pt x="21599999" y="1440180"/>
                  </a:lnTo>
                  <a:lnTo>
                    <a:pt x="0" y="14401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38" r="0" b="-24223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599995" cy="1468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E7C671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The Challenge for Visually Impaired Individuals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480060"/>
            <a:ext cx="1027748" cy="1078230"/>
            <a:chOff x="0" y="0"/>
            <a:chExt cx="1370330" cy="1437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70330" cy="1437640"/>
            </a:xfrm>
            <a:custGeom>
              <a:avLst/>
              <a:gdLst/>
              <a:ahLst/>
              <a:cxnLst/>
              <a:rect r="r" b="b" t="t" l="l"/>
              <a:pathLst>
                <a:path h="1437640" w="1370330">
                  <a:moveTo>
                    <a:pt x="767080" y="0"/>
                  </a:moveTo>
                  <a:lnTo>
                    <a:pt x="0" y="0"/>
                  </a:lnTo>
                  <a:lnTo>
                    <a:pt x="0" y="1437640"/>
                  </a:lnTo>
                  <a:lnTo>
                    <a:pt x="767080" y="1437640"/>
                  </a:lnTo>
                  <a:lnTo>
                    <a:pt x="1370330" y="718820"/>
                  </a:lnTo>
                  <a:lnTo>
                    <a:pt x="767080" y="0"/>
                  </a:lnTo>
                  <a:close/>
                </a:path>
              </a:pathLst>
            </a:custGeom>
            <a:solidFill>
              <a:srgbClr val="E7C671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327706" y="1895956"/>
            <a:ext cx="5692673" cy="3109622"/>
          </a:xfrm>
          <a:custGeom>
            <a:avLst/>
            <a:gdLst/>
            <a:ahLst/>
            <a:cxnLst/>
            <a:rect r="r" b="b" t="t" l="l"/>
            <a:pathLst>
              <a:path h="3109622" w="5692673">
                <a:moveTo>
                  <a:pt x="0" y="0"/>
                </a:moveTo>
                <a:lnTo>
                  <a:pt x="5692672" y="0"/>
                </a:lnTo>
                <a:lnTo>
                  <a:pt x="5692672" y="3109622"/>
                </a:lnTo>
                <a:lnTo>
                  <a:pt x="0" y="3109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479190" y="1895956"/>
            <a:ext cx="5692673" cy="3109622"/>
          </a:xfrm>
          <a:custGeom>
            <a:avLst/>
            <a:gdLst/>
            <a:ahLst/>
            <a:cxnLst/>
            <a:rect r="r" b="b" t="t" l="l"/>
            <a:pathLst>
              <a:path h="3109622" w="5692673">
                <a:moveTo>
                  <a:pt x="0" y="0"/>
                </a:moveTo>
                <a:lnTo>
                  <a:pt x="5692673" y="0"/>
                </a:lnTo>
                <a:lnTo>
                  <a:pt x="5692673" y="3109622"/>
                </a:lnTo>
                <a:lnTo>
                  <a:pt x="0" y="3109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54128" y="6386827"/>
            <a:ext cx="7163657" cy="254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tools like </a:t>
            </a:r>
            <a:r>
              <a:rPr lang="en-US" sz="225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white canes</a:t>
            </a: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only detect ground-level obstacles, </a:t>
            </a:r>
          </a:p>
          <a:p>
            <a:pPr algn="l" marL="485775" indent="-242888" lvl="1">
              <a:lnSpc>
                <a:spcPts val="405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Cannot detect elevated obstacles  </a:t>
            </a:r>
          </a:p>
          <a:p>
            <a:pPr algn="l" marL="485775" indent="-242888" lvl="1">
              <a:lnSpc>
                <a:spcPts val="405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Misses moving objects  </a:t>
            </a:r>
          </a:p>
          <a:p>
            <a:pPr algn="l" marL="485775" indent="-242888" lvl="1">
              <a:lnSpc>
                <a:spcPts val="405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awareness in crowded areas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92363" y="6386827"/>
            <a:ext cx="7163657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5775" indent="-242888" lvl="1">
              <a:lnSpc>
                <a:spcPts val="405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⚠️</a:t>
            </a: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risk of upper-body collisions  </a:t>
            </a:r>
          </a:p>
          <a:p>
            <a:pPr algn="l" marL="485775" indent="-242888" lvl="1">
              <a:lnSpc>
                <a:spcPts val="405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Waist-level obstacles not detected  </a:t>
            </a:r>
          </a:p>
          <a:p>
            <a:pPr algn="l" marL="485775" indent="-242888" lvl="1">
              <a:lnSpc>
                <a:spcPts val="405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Unsafe in real-world environments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5485700"/>
            <a:ext cx="6553349" cy="50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60"/>
              </a:lnSpc>
              <a:buAutoNum type="arabicPeriod" startAt="1"/>
            </a:pPr>
            <a:r>
              <a:rPr lang="en-US" b="true" sz="3000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Independent Mobility🚶Limitations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71573" y="5511451"/>
            <a:ext cx="5516910" cy="50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60"/>
              </a:lnSpc>
              <a:buAutoNum type="arabicPeriod" startAt="1"/>
            </a:pPr>
            <a:r>
              <a:rPr lang="en-US" b="true" sz="3000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High-Risk Collision Scenarios</a:t>
            </a:r>
          </a:p>
        </p:txBody>
      </p:sp>
    </p:spTree>
  </p:cSld>
  <p:clrMapOvr>
    <a:masterClrMapping/>
  </p:clrMapOvr>
  <p:transition spd="fast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163628" y="3687128"/>
            <a:ext cx="12115800" cy="4322445"/>
            <a:chOff x="0" y="0"/>
            <a:chExt cx="16154400" cy="57632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154400" cy="5763260"/>
            </a:xfrm>
            <a:custGeom>
              <a:avLst/>
              <a:gdLst/>
              <a:ahLst/>
              <a:cxnLst/>
              <a:rect r="r" b="b" t="t" l="l"/>
              <a:pathLst>
                <a:path h="5763260" w="16154400">
                  <a:moveTo>
                    <a:pt x="0" y="0"/>
                  </a:moveTo>
                  <a:lnTo>
                    <a:pt x="16154400" y="0"/>
                  </a:lnTo>
                  <a:lnTo>
                    <a:pt x="16154400" y="5763260"/>
                  </a:lnTo>
                  <a:lnTo>
                    <a:pt x="0" y="5763260"/>
                  </a:lnTo>
                  <a:close/>
                </a:path>
              </a:pathLst>
            </a:custGeom>
            <a:solidFill>
              <a:srgbClr val="3A302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480060"/>
            <a:ext cx="1027748" cy="1078230"/>
            <a:chOff x="0" y="0"/>
            <a:chExt cx="1370330" cy="1437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0330" cy="1437640"/>
            </a:xfrm>
            <a:custGeom>
              <a:avLst/>
              <a:gdLst/>
              <a:ahLst/>
              <a:cxnLst/>
              <a:rect r="r" b="b" t="t" l="l"/>
              <a:pathLst>
                <a:path h="1437640" w="1370330">
                  <a:moveTo>
                    <a:pt x="767080" y="0"/>
                  </a:moveTo>
                  <a:lnTo>
                    <a:pt x="0" y="0"/>
                  </a:lnTo>
                  <a:lnTo>
                    <a:pt x="0" y="1437640"/>
                  </a:lnTo>
                  <a:lnTo>
                    <a:pt x="767080" y="1437640"/>
                  </a:lnTo>
                  <a:lnTo>
                    <a:pt x="1370330" y="718820"/>
                  </a:lnTo>
                  <a:lnTo>
                    <a:pt x="767080" y="0"/>
                  </a:lnTo>
                  <a:close/>
                </a:path>
              </a:pathLst>
            </a:custGeom>
            <a:solidFill>
              <a:srgbClr val="E7C671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910849" y="3706178"/>
            <a:ext cx="6385928" cy="4254625"/>
          </a:xfrm>
          <a:custGeom>
            <a:avLst/>
            <a:gdLst/>
            <a:ahLst/>
            <a:cxnLst/>
            <a:rect r="r" b="b" t="t" l="l"/>
            <a:pathLst>
              <a:path h="4254625" w="6385928">
                <a:moveTo>
                  <a:pt x="0" y="0"/>
                </a:moveTo>
                <a:lnTo>
                  <a:pt x="6385928" y="0"/>
                </a:lnTo>
                <a:lnTo>
                  <a:pt x="6385928" y="4254624"/>
                </a:lnTo>
                <a:lnTo>
                  <a:pt x="0" y="42546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184672" y="4766310"/>
            <a:ext cx="9539926" cy="214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32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Relies on cloud☁️ processing  </a:t>
            </a:r>
          </a:p>
          <a:p>
            <a:pPr algn="l" marL="518160" indent="-259080" lvl="1">
              <a:lnSpc>
                <a:spcPts val="432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latency ⏳(delay in response)  </a:t>
            </a:r>
          </a:p>
          <a:p>
            <a:pPr algn="l" marL="518160" indent="-259080" lvl="1">
              <a:lnSpc>
                <a:spcPts val="432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Requires constant internet📶  </a:t>
            </a:r>
          </a:p>
          <a:p>
            <a:pPr algn="l" marL="518160" indent="-259080" lvl="1">
              <a:lnSpc>
                <a:spcPts val="432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Privacy🔒 and data security concerns 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506073" y="3812699"/>
            <a:ext cx="12115800" cy="760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  <a:spcBef>
                <a:spcPct val="0"/>
              </a:spcBef>
            </a:pPr>
            <a:r>
              <a:rPr lang="en-US" b="true" sz="4499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☁️</a:t>
            </a:r>
            <a:r>
              <a:rPr lang="en-US" b="true" sz="4499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Cloud AI Dependency Issues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90195" y="314325"/>
            <a:ext cx="14058305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00"/>
              </a:lnSpc>
              <a:spcBef>
                <a:spcPct val="0"/>
              </a:spcBef>
            </a:pPr>
            <a:r>
              <a:rPr lang="en-US" b="true" sz="7500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Limitations of Current AI Systems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84672" y="7327825"/>
            <a:ext cx="5919183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sz="200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imes New Roman"/>
                <a:ea typeface="Times New Roman"/>
                <a:cs typeface="Times New Roman"/>
                <a:sym typeface="Times New Roman"/>
              </a:rPr>
              <a:t>❌ </a:t>
            </a:r>
            <a:r>
              <a:rPr lang="en-US" sz="200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imes New Roman"/>
                <a:ea typeface="Times New Roman"/>
                <a:cs typeface="Times New Roman"/>
                <a:sym typeface="Times New Roman"/>
              </a:rPr>
              <a:t>Not suitable for real-time assistive navigation</a:t>
            </a:r>
          </a:p>
        </p:txBody>
      </p:sp>
    </p:spTree>
  </p:cSld>
  <p:clrMapOvr>
    <a:masterClrMapping/>
  </p:clrMapOvr>
  <p:transition spd="fast">
    <p:cover dir="u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27443" y="3738753"/>
            <a:ext cx="11033115" cy="1295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68"/>
              </a:lnSpc>
            </a:pPr>
            <a:r>
              <a:rPr lang="en-US" b="true" sz="7200" spc="599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Objectives &amp; Edge AI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86191" y="904875"/>
            <a:ext cx="3515618" cy="1214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04"/>
              </a:lnSpc>
              <a:spcBef>
                <a:spcPct val="0"/>
              </a:spcBef>
            </a:pPr>
            <a:r>
              <a:rPr lang="en-US" b="true" sz="7200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PART 02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72473" y="7053408"/>
            <a:ext cx="5143054" cy="50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sz="300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imes New Roman"/>
                <a:ea typeface="Times New Roman"/>
                <a:cs typeface="Times New Roman"/>
                <a:sym typeface="Times New Roman"/>
              </a:rPr>
              <a:t>Why Edge AI is the right solution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44893" y="2560320"/>
            <a:ext cx="4845368" cy="6764655"/>
            <a:chOff x="0" y="0"/>
            <a:chExt cx="6460490" cy="90195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60490" cy="9019540"/>
            </a:xfrm>
            <a:custGeom>
              <a:avLst/>
              <a:gdLst/>
              <a:ahLst/>
              <a:cxnLst/>
              <a:rect r="r" b="b" t="t" l="l"/>
              <a:pathLst>
                <a:path h="9019540" w="6460490">
                  <a:moveTo>
                    <a:pt x="0" y="0"/>
                  </a:moveTo>
                  <a:lnTo>
                    <a:pt x="6460490" y="0"/>
                  </a:lnTo>
                  <a:lnTo>
                    <a:pt x="6460490" y="9019540"/>
                  </a:lnTo>
                  <a:lnTo>
                    <a:pt x="0" y="9019540"/>
                  </a:lnTo>
                </a:path>
              </a:pathLst>
            </a:custGeom>
            <a:solidFill>
              <a:srgbClr val="3A302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75398" y="1962150"/>
            <a:ext cx="1041082" cy="1020128"/>
            <a:chOff x="0" y="0"/>
            <a:chExt cx="1388110" cy="13601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88110" cy="1360170"/>
            </a:xfrm>
            <a:custGeom>
              <a:avLst/>
              <a:gdLst/>
              <a:ahLst/>
              <a:cxnLst/>
              <a:rect r="r" b="b" t="t" l="l"/>
              <a:pathLst>
                <a:path h="1360170" w="1388110">
                  <a:moveTo>
                    <a:pt x="0" y="0"/>
                  </a:moveTo>
                  <a:lnTo>
                    <a:pt x="1388110" y="0"/>
                  </a:lnTo>
                  <a:lnTo>
                    <a:pt x="1388110" y="1360170"/>
                  </a:lnTo>
                  <a:lnTo>
                    <a:pt x="0" y="1360170"/>
                  </a:lnTo>
                </a:path>
              </a:pathLst>
            </a:custGeom>
            <a:solidFill>
              <a:srgbClr val="E7C67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88110" cy="1388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721793" y="2560320"/>
            <a:ext cx="4845368" cy="6764655"/>
            <a:chOff x="0" y="0"/>
            <a:chExt cx="6460490" cy="90195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60490" cy="9019540"/>
            </a:xfrm>
            <a:custGeom>
              <a:avLst/>
              <a:gdLst/>
              <a:ahLst/>
              <a:cxnLst/>
              <a:rect r="r" b="b" t="t" l="l"/>
              <a:pathLst>
                <a:path h="9019540" w="6460490">
                  <a:moveTo>
                    <a:pt x="0" y="0"/>
                  </a:moveTo>
                  <a:lnTo>
                    <a:pt x="6460490" y="0"/>
                  </a:lnTo>
                  <a:lnTo>
                    <a:pt x="6460490" y="9019540"/>
                  </a:lnTo>
                  <a:lnTo>
                    <a:pt x="0" y="9019540"/>
                  </a:lnTo>
                </a:path>
              </a:pathLst>
            </a:custGeom>
            <a:solidFill>
              <a:srgbClr val="3A302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984682" y="1962150"/>
            <a:ext cx="1041082" cy="1020128"/>
            <a:chOff x="0" y="0"/>
            <a:chExt cx="1388110" cy="13601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88110" cy="1360170"/>
            </a:xfrm>
            <a:custGeom>
              <a:avLst/>
              <a:gdLst/>
              <a:ahLst/>
              <a:cxnLst/>
              <a:rect r="r" b="b" t="t" l="l"/>
              <a:pathLst>
                <a:path h="1360170" w="1388110">
                  <a:moveTo>
                    <a:pt x="0" y="0"/>
                  </a:moveTo>
                  <a:lnTo>
                    <a:pt x="1388110" y="0"/>
                  </a:lnTo>
                  <a:lnTo>
                    <a:pt x="1388110" y="1360170"/>
                  </a:lnTo>
                  <a:lnTo>
                    <a:pt x="0" y="1360170"/>
                  </a:lnTo>
                </a:path>
              </a:pathLst>
            </a:custGeom>
            <a:solidFill>
              <a:srgbClr val="E7C67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388110" cy="1388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98693" y="2560320"/>
            <a:ext cx="4845368" cy="6764655"/>
            <a:chOff x="0" y="0"/>
            <a:chExt cx="6460490" cy="90195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460490" cy="9019540"/>
            </a:xfrm>
            <a:custGeom>
              <a:avLst/>
              <a:gdLst/>
              <a:ahLst/>
              <a:cxnLst/>
              <a:rect r="r" b="b" t="t" l="l"/>
              <a:pathLst>
                <a:path h="9019540" w="6460490">
                  <a:moveTo>
                    <a:pt x="0" y="0"/>
                  </a:moveTo>
                  <a:lnTo>
                    <a:pt x="6460490" y="0"/>
                  </a:lnTo>
                  <a:lnTo>
                    <a:pt x="6460490" y="9019540"/>
                  </a:lnTo>
                  <a:lnTo>
                    <a:pt x="0" y="9019540"/>
                  </a:lnTo>
                </a:path>
              </a:pathLst>
            </a:custGeom>
            <a:solidFill>
              <a:srgbClr val="3A302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693968" y="1962150"/>
            <a:ext cx="1041082" cy="1020128"/>
            <a:chOff x="0" y="0"/>
            <a:chExt cx="1388110" cy="13601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88110" cy="1360170"/>
            </a:xfrm>
            <a:custGeom>
              <a:avLst/>
              <a:gdLst/>
              <a:ahLst/>
              <a:cxnLst/>
              <a:rect r="r" b="b" t="t" l="l"/>
              <a:pathLst>
                <a:path h="1360170" w="1388110">
                  <a:moveTo>
                    <a:pt x="0" y="0"/>
                  </a:moveTo>
                  <a:lnTo>
                    <a:pt x="1388110" y="0"/>
                  </a:lnTo>
                  <a:lnTo>
                    <a:pt x="1388110" y="1360170"/>
                  </a:lnTo>
                  <a:lnTo>
                    <a:pt x="0" y="1360170"/>
                  </a:lnTo>
                </a:path>
              </a:pathLst>
            </a:custGeom>
            <a:solidFill>
              <a:srgbClr val="E7C671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388110" cy="1388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03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 rot="-26640">
            <a:off x="1306287" y="4332922"/>
            <a:ext cx="4299718" cy="0"/>
          </a:xfrm>
          <a:prstGeom prst="line">
            <a:avLst/>
          </a:prstGeom>
          <a:ln cap="rnd" w="19050">
            <a:solidFill>
              <a:srgbClr val="E7C67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rot="26640">
            <a:off x="6983187" y="4332922"/>
            <a:ext cx="4299718" cy="0"/>
          </a:xfrm>
          <a:prstGeom prst="line">
            <a:avLst/>
          </a:prstGeom>
          <a:ln cap="rnd" w="19050">
            <a:solidFill>
              <a:srgbClr val="E7C67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rot="-26640">
            <a:off x="12660087" y="4332922"/>
            <a:ext cx="4299718" cy="0"/>
          </a:xfrm>
          <a:prstGeom prst="line">
            <a:avLst/>
          </a:prstGeom>
          <a:ln cap="rnd" w="19050">
            <a:solidFill>
              <a:srgbClr val="E7C67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1365571" y="3130229"/>
            <a:ext cx="4358845" cy="50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000" b="true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Real-Time Detection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65571" y="4331332"/>
            <a:ext cx="4193657" cy="254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5775" indent="-242888" lvl="1">
              <a:lnSpc>
                <a:spcPts val="405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 obstacles in real time  </a:t>
            </a:r>
          </a:p>
          <a:p>
            <a:pPr algn="l">
              <a:lnSpc>
                <a:spcPts val="4050"/>
              </a:lnSpc>
            </a:pPr>
          </a:p>
          <a:p>
            <a:pPr algn="l" marL="485775" indent="-242888" lvl="1">
              <a:lnSpc>
                <a:spcPts val="405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Wearable and portable system  </a:t>
            </a:r>
          </a:p>
          <a:p>
            <a:pPr algn="l">
              <a:lnSpc>
                <a:spcPts val="4050"/>
              </a:lnSpc>
            </a:pPr>
          </a:p>
          <a:p>
            <a:pPr algn="l" marL="485775" indent="-242888" lvl="1">
              <a:lnSpc>
                <a:spcPts val="405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user awareness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047171" y="4435307"/>
            <a:ext cx="4193657" cy="254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5775" indent="-242888" lvl="1">
              <a:lnSpc>
                <a:spcPts val="405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100% on-device processing  </a:t>
            </a:r>
          </a:p>
          <a:p>
            <a:pPr algn="l">
              <a:lnSpc>
                <a:spcPts val="4050"/>
              </a:lnSpc>
            </a:pPr>
          </a:p>
          <a:p>
            <a:pPr algn="l" marL="485775" indent="-242888" lvl="1">
              <a:lnSpc>
                <a:spcPts val="405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internet required </a:t>
            </a:r>
          </a:p>
          <a:p>
            <a:pPr algn="l">
              <a:lnSpc>
                <a:spcPts val="4050"/>
              </a:lnSpc>
            </a:pP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  <a:p>
            <a:pPr algn="l" marL="485775" indent="-242888" lvl="1">
              <a:lnSpc>
                <a:spcPts val="405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Low latency and fast response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532374" y="3130229"/>
            <a:ext cx="4643194" cy="50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000" b="true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Multi-Modal Feedback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757142" y="4331332"/>
            <a:ext cx="4193657" cy="202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5775" indent="-242888" lvl="1">
              <a:lnSpc>
                <a:spcPts val="405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Audio alerts and vibration for guidance </a:t>
            </a:r>
          </a:p>
          <a:p>
            <a:pPr algn="l">
              <a:lnSpc>
                <a:spcPts val="4050"/>
              </a:lnSpc>
            </a:pPr>
          </a:p>
          <a:p>
            <a:pPr algn="l" marL="485775" indent="-242888" lvl="1">
              <a:lnSpc>
                <a:spcPts val="405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Easy and intuitive navigation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074856" y="3130229"/>
            <a:ext cx="4139660" cy="50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000" b="true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Offline Edge AI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0" y="480060"/>
            <a:ext cx="1027748" cy="1078230"/>
            <a:chOff x="0" y="0"/>
            <a:chExt cx="1370330" cy="1437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70330" cy="1437640"/>
            </a:xfrm>
            <a:custGeom>
              <a:avLst/>
              <a:gdLst/>
              <a:ahLst/>
              <a:cxnLst/>
              <a:rect r="r" b="b" t="t" l="l"/>
              <a:pathLst>
                <a:path h="1437640" w="1370330">
                  <a:moveTo>
                    <a:pt x="767080" y="0"/>
                  </a:moveTo>
                  <a:lnTo>
                    <a:pt x="0" y="0"/>
                  </a:lnTo>
                  <a:lnTo>
                    <a:pt x="0" y="1437640"/>
                  </a:lnTo>
                  <a:lnTo>
                    <a:pt x="767080" y="1437640"/>
                  </a:lnTo>
                  <a:lnTo>
                    <a:pt x="1370330" y="718820"/>
                  </a:lnTo>
                  <a:lnTo>
                    <a:pt x="767080" y="0"/>
                  </a:lnTo>
                  <a:close/>
                </a:path>
              </a:pathLst>
            </a:custGeom>
            <a:solidFill>
              <a:srgbClr val="E7C671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5086125" y="472821"/>
            <a:ext cx="7472809" cy="987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5"/>
              </a:lnSpc>
              <a:spcBef>
                <a:spcPct val="0"/>
              </a:spcBef>
            </a:pPr>
            <a:r>
              <a:rPr lang="en-US" b="true" sz="5799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Core System Objectives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081760" y="8131007"/>
            <a:ext cx="1262556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  <a:spcBef>
                <a:spcPct val="0"/>
              </a:spcBef>
            </a:pPr>
            <a:r>
              <a:rPr lang="en-US" sz="4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🔊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403621" y="8131007"/>
            <a:ext cx="1262556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  <a:spcBef>
                <a:spcPct val="0"/>
              </a:spcBef>
            </a:pPr>
            <a:r>
              <a:rPr lang="en-US" sz="4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⚡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701739" y="8131007"/>
            <a:ext cx="760661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  <a:spcBef>
                <a:spcPct val="0"/>
              </a:spcBef>
            </a:pPr>
            <a:r>
              <a:rPr lang="en-US" sz="4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🎯</a:t>
            </a:r>
          </a:p>
        </p:txBody>
      </p:sp>
    </p:spTree>
  </p:cSld>
  <p:clrMapOvr>
    <a:masterClrMapping/>
  </p:clrMapOvr>
  <p:transition spd="fast">
    <p:cover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228249" y="2708329"/>
            <a:ext cx="8015745" cy="6241942"/>
            <a:chOff x="0" y="0"/>
            <a:chExt cx="10687660" cy="83225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687685" cy="8322564"/>
            </a:xfrm>
            <a:custGeom>
              <a:avLst/>
              <a:gdLst/>
              <a:ahLst/>
              <a:cxnLst/>
              <a:rect r="r" b="b" t="t" l="l"/>
              <a:pathLst>
                <a:path h="8322564" w="10687685">
                  <a:moveTo>
                    <a:pt x="0" y="0"/>
                  </a:moveTo>
                  <a:lnTo>
                    <a:pt x="10687685" y="0"/>
                  </a:lnTo>
                  <a:lnTo>
                    <a:pt x="10687685" y="8322564"/>
                  </a:lnTo>
                  <a:lnTo>
                    <a:pt x="0" y="8322564"/>
                  </a:lnTo>
                  <a:close/>
                </a:path>
              </a:pathLst>
            </a:custGeom>
            <a:solidFill>
              <a:srgbClr val="3A302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480060"/>
            <a:ext cx="1027748" cy="1078230"/>
            <a:chOff x="0" y="0"/>
            <a:chExt cx="1370330" cy="1437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0330" cy="1437640"/>
            </a:xfrm>
            <a:custGeom>
              <a:avLst/>
              <a:gdLst/>
              <a:ahLst/>
              <a:cxnLst/>
              <a:rect r="r" b="b" t="t" l="l"/>
              <a:pathLst>
                <a:path h="1437640" w="1370330">
                  <a:moveTo>
                    <a:pt x="767080" y="0"/>
                  </a:moveTo>
                  <a:lnTo>
                    <a:pt x="0" y="0"/>
                  </a:lnTo>
                  <a:lnTo>
                    <a:pt x="0" y="1437640"/>
                  </a:lnTo>
                  <a:lnTo>
                    <a:pt x="767080" y="1437640"/>
                  </a:lnTo>
                  <a:lnTo>
                    <a:pt x="1370330" y="718820"/>
                  </a:lnTo>
                  <a:lnTo>
                    <a:pt x="767080" y="0"/>
                  </a:lnTo>
                  <a:close/>
                </a:path>
              </a:pathLst>
            </a:custGeom>
            <a:solidFill>
              <a:srgbClr val="E7C671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27748" y="3257263"/>
            <a:ext cx="7241649" cy="4919283"/>
          </a:xfrm>
          <a:custGeom>
            <a:avLst/>
            <a:gdLst/>
            <a:ahLst/>
            <a:cxnLst/>
            <a:rect r="r" b="b" t="t" l="l"/>
            <a:pathLst>
              <a:path h="4919283" w="7241649">
                <a:moveTo>
                  <a:pt x="0" y="0"/>
                </a:moveTo>
                <a:lnTo>
                  <a:pt x="7241648" y="0"/>
                </a:lnTo>
                <a:lnTo>
                  <a:pt x="7241648" y="4919284"/>
                </a:lnTo>
                <a:lnTo>
                  <a:pt x="0" y="49192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27" r="0" b="-327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546293" y="4139565"/>
            <a:ext cx="7379656" cy="3769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32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internet dependency </a:t>
            </a:r>
          </a:p>
          <a:p>
            <a:pPr algn="l">
              <a:lnSpc>
                <a:spcPts val="4320"/>
              </a:lnSpc>
            </a:pPr>
          </a:p>
          <a:p>
            <a:pPr algn="l" marL="518160" indent="-259080" lvl="1">
              <a:lnSpc>
                <a:spcPts val="432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Ultra-low latency (fast response) </a:t>
            </a:r>
          </a:p>
          <a:p>
            <a:pPr algn="l">
              <a:lnSpc>
                <a:spcPts val="4320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  <a:p>
            <a:pPr algn="l" marL="518160" indent="-259080" lvl="1">
              <a:lnSpc>
                <a:spcPts val="432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alerts  </a:t>
            </a:r>
          </a:p>
          <a:p>
            <a:pPr algn="l">
              <a:lnSpc>
                <a:spcPts val="4320"/>
              </a:lnSpc>
            </a:pPr>
          </a:p>
          <a:p>
            <a:pPr algn="l" marL="518160" indent="-259080" lvl="1">
              <a:lnSpc>
                <a:spcPts val="432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 privacy and security 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33246" y="3200113"/>
            <a:ext cx="6421785" cy="50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b="true" sz="3000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Cloud </a:t>
            </a:r>
            <a:r>
              <a:rPr lang="en-US" b="true" sz="30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VS</a:t>
            </a:r>
            <a:r>
              <a:rPr lang="en-US" b="true" sz="3000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Edge Processing Comparison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50121" y="499872"/>
            <a:ext cx="7665988" cy="943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92"/>
              </a:lnSpc>
              <a:spcBef>
                <a:spcPct val="0"/>
              </a:spcBef>
            </a:pPr>
            <a:r>
              <a:rPr lang="en-US" b="true" sz="5600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Edge AI is Essential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34065" y="8165871"/>
            <a:ext cx="619675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9"/>
              </a:lnSpc>
              <a:spcBef>
                <a:spcPct val="0"/>
              </a:spcBef>
            </a:pPr>
            <a:r>
              <a:rPr lang="en-US" sz="2499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imes New Roman"/>
                <a:ea typeface="Times New Roman"/>
                <a:cs typeface="Times New Roman"/>
                <a:sym typeface="Times New Roman"/>
              </a:rPr>
              <a:t>✅ Best choice for real-time assistive navigation</a:t>
            </a:r>
          </a:p>
        </p:txBody>
      </p:sp>
    </p:spTree>
  </p:cSld>
  <p:clrMapOvr>
    <a:masterClrMapping/>
  </p:clrMapOvr>
  <p:transition spd="fast">
    <p:push dir="u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34301" y="3738753"/>
            <a:ext cx="10419398" cy="2609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68"/>
              </a:lnSpc>
            </a:pPr>
            <a:r>
              <a:rPr lang="en-US" sz="7200" spc="599">
                <a:solidFill>
                  <a:srgbClr val="E7C6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&amp; Hardware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12893" y="895350"/>
            <a:ext cx="3662214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00"/>
              </a:lnSpc>
              <a:spcBef>
                <a:spcPct val="0"/>
              </a:spcBef>
            </a:pPr>
            <a:r>
              <a:rPr lang="en-US" b="true" sz="7500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PART 03</a:t>
            </a:r>
          </a:p>
        </p:txBody>
      </p:sp>
    </p:spTree>
  </p:cSld>
  <p:clrMapOvr>
    <a:masterClrMapping/>
  </p:clrMapOvr>
  <p:transition spd="fast">
    <p:cover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480060"/>
            <a:ext cx="1027748" cy="1078230"/>
            <a:chOff x="0" y="0"/>
            <a:chExt cx="1370330" cy="14376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70330" cy="1437640"/>
            </a:xfrm>
            <a:custGeom>
              <a:avLst/>
              <a:gdLst/>
              <a:ahLst/>
              <a:cxnLst/>
              <a:rect r="r" b="b" t="t" l="l"/>
              <a:pathLst>
                <a:path h="1437640" w="1370330">
                  <a:moveTo>
                    <a:pt x="767080" y="0"/>
                  </a:moveTo>
                  <a:lnTo>
                    <a:pt x="0" y="0"/>
                  </a:lnTo>
                  <a:lnTo>
                    <a:pt x="0" y="1437640"/>
                  </a:lnTo>
                  <a:lnTo>
                    <a:pt x="767080" y="1437640"/>
                  </a:lnTo>
                  <a:lnTo>
                    <a:pt x="1370330" y="718820"/>
                  </a:lnTo>
                  <a:lnTo>
                    <a:pt x="767080" y="0"/>
                  </a:lnTo>
                  <a:close/>
                </a:path>
              </a:pathLst>
            </a:custGeom>
            <a:solidFill>
              <a:srgbClr val="E7C67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983132" y="5143500"/>
            <a:ext cx="3667408" cy="3098113"/>
            <a:chOff x="0" y="0"/>
            <a:chExt cx="4727331" cy="39935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727296" cy="3993515"/>
            </a:xfrm>
            <a:custGeom>
              <a:avLst/>
              <a:gdLst/>
              <a:ahLst/>
              <a:cxnLst/>
              <a:rect r="r" b="b" t="t" l="l"/>
              <a:pathLst>
                <a:path h="3993515" w="4727296">
                  <a:moveTo>
                    <a:pt x="0" y="0"/>
                  </a:moveTo>
                  <a:lnTo>
                    <a:pt x="4727296" y="0"/>
                  </a:lnTo>
                  <a:lnTo>
                    <a:pt x="4727296" y="3993515"/>
                  </a:lnTo>
                  <a:lnTo>
                    <a:pt x="0" y="3993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3" r="0" b="-13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212567" y="5184219"/>
            <a:ext cx="3977097" cy="3057393"/>
          </a:xfrm>
          <a:custGeom>
            <a:avLst/>
            <a:gdLst/>
            <a:ahLst/>
            <a:cxnLst/>
            <a:rect r="r" b="b" t="t" l="l"/>
            <a:pathLst>
              <a:path h="3057393" w="3977097">
                <a:moveTo>
                  <a:pt x="0" y="0"/>
                </a:moveTo>
                <a:lnTo>
                  <a:pt x="3977097" y="0"/>
                </a:lnTo>
                <a:lnTo>
                  <a:pt x="3977097" y="3057394"/>
                </a:lnTo>
                <a:lnTo>
                  <a:pt x="0" y="30573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344391" y="314325"/>
            <a:ext cx="11550551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00"/>
              </a:lnSpc>
              <a:spcBef>
                <a:spcPct val="0"/>
              </a:spcBef>
            </a:pPr>
            <a:r>
              <a:rPr lang="en-US" b="true" sz="7500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Overall System Architecture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58269" y="2608061"/>
            <a:ext cx="12171462" cy="50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Camera → AI Model (NPU) → Spatial Logic → Audio &amp; Vibration Output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111419" y="3524366"/>
            <a:ext cx="2171468" cy="2171468"/>
          </a:xfrm>
          <a:custGeom>
            <a:avLst/>
            <a:gdLst/>
            <a:ahLst/>
            <a:cxnLst/>
            <a:rect r="r" b="b" t="t" l="l"/>
            <a:pathLst>
              <a:path h="2171468" w="2171468">
                <a:moveTo>
                  <a:pt x="0" y="0"/>
                </a:moveTo>
                <a:lnTo>
                  <a:pt x="2171469" y="0"/>
                </a:lnTo>
                <a:lnTo>
                  <a:pt x="2171469" y="2171468"/>
                </a:lnTo>
                <a:lnTo>
                  <a:pt x="0" y="21714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111419" y="6261098"/>
            <a:ext cx="2302040" cy="2302040"/>
          </a:xfrm>
          <a:custGeom>
            <a:avLst/>
            <a:gdLst/>
            <a:ahLst/>
            <a:cxnLst/>
            <a:rect r="r" b="b" t="t" l="l"/>
            <a:pathLst>
              <a:path h="2302040" w="2302040">
                <a:moveTo>
                  <a:pt x="0" y="0"/>
                </a:moveTo>
                <a:lnTo>
                  <a:pt x="2302040" y="0"/>
                </a:lnTo>
                <a:lnTo>
                  <a:pt x="2302040" y="2302040"/>
                </a:lnTo>
                <a:lnTo>
                  <a:pt x="0" y="23020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281598" y="6222998"/>
            <a:ext cx="609600" cy="812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36"/>
              </a:lnSpc>
              <a:spcBef>
                <a:spcPct val="0"/>
              </a:spcBef>
            </a:pPr>
            <a:r>
              <a:rPr lang="en-US" b="true" sz="48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→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724189" y="6222998"/>
            <a:ext cx="609600" cy="812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36"/>
              </a:lnSpc>
              <a:spcBef>
                <a:spcPct val="0"/>
              </a:spcBef>
            </a:pPr>
            <a:r>
              <a:rPr lang="en-US" b="true" sz="48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→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934273" y="5619634"/>
            <a:ext cx="304056" cy="69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4"/>
              </a:lnSpc>
              <a:spcBef>
                <a:spcPct val="0"/>
              </a:spcBef>
            </a:pPr>
            <a:r>
              <a:rPr lang="en-US" b="true" sz="42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+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99653" y="8354746"/>
            <a:ext cx="1955899" cy="348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2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Camera → Input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59945" y="8354746"/>
            <a:ext cx="3113782" cy="348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2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Board → Processing (NPU)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75237" y="8579917"/>
            <a:ext cx="3164979" cy="348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2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</a:t>
            </a:r>
            <a:r>
              <a:rPr lang="en-US" b="true" sz="21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tor + Speaker → Output</a:t>
            </a:r>
          </a:p>
        </p:txBody>
      </p:sp>
    </p:spTree>
  </p:cSld>
  <p:clrMapOvr>
    <a:masterClrMapping/>
  </p:clrMapOvr>
  <p:transition spd="fast">
    <p:cover dir="rd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480060"/>
            <a:ext cx="1027748" cy="1078230"/>
            <a:chOff x="0" y="0"/>
            <a:chExt cx="1370330" cy="14376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70330" cy="1437640"/>
            </a:xfrm>
            <a:custGeom>
              <a:avLst/>
              <a:gdLst/>
              <a:ahLst/>
              <a:cxnLst/>
              <a:rect r="r" b="b" t="t" l="l"/>
              <a:pathLst>
                <a:path h="1437640" w="1370330">
                  <a:moveTo>
                    <a:pt x="767080" y="0"/>
                  </a:moveTo>
                  <a:lnTo>
                    <a:pt x="0" y="0"/>
                  </a:lnTo>
                  <a:lnTo>
                    <a:pt x="0" y="1437640"/>
                  </a:lnTo>
                  <a:lnTo>
                    <a:pt x="767080" y="1437640"/>
                  </a:lnTo>
                  <a:lnTo>
                    <a:pt x="1370330" y="718820"/>
                  </a:lnTo>
                  <a:lnTo>
                    <a:pt x="767080" y="0"/>
                  </a:lnTo>
                  <a:close/>
                </a:path>
              </a:pathLst>
            </a:custGeom>
            <a:solidFill>
              <a:srgbClr val="E7C671"/>
            </a:solidFill>
          </p:spPr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28700" y="1826819"/>
          <a:ext cx="10881844" cy="7431481"/>
        </p:xfrm>
        <a:graphic>
          <a:graphicData uri="http://schemas.openxmlformats.org/drawingml/2006/table">
            <a:tbl>
              <a:tblPr/>
              <a:tblGrid>
                <a:gridCol w="3075237"/>
                <a:gridCol w="7806607"/>
              </a:tblGrid>
              <a:tr h="12385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Component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Specification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858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Camera📷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waveshare SC3336 (3MP, 1080p)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8580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Processor Board🧠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Luckfox Pico Ultra (RV1106, ARM Cortex-A7 + NPU 0.5 TOPS)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858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Audio Output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Ω Speaker🔊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858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Haptic Feedback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Vibration motor📳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858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Power Supply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5V Battery / USB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698259" y="542925"/>
            <a:ext cx="6671816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  <a:spcBef>
                <a:spcPct val="0"/>
              </a:spcBef>
            </a:pPr>
            <a:r>
              <a:rPr lang="en-US" b="true" sz="5000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Hardware Specifications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836553" y="1028700"/>
            <a:ext cx="2498655" cy="1808509"/>
          </a:xfrm>
          <a:custGeom>
            <a:avLst/>
            <a:gdLst/>
            <a:ahLst/>
            <a:cxnLst/>
            <a:rect r="r" b="b" t="t" l="l"/>
            <a:pathLst>
              <a:path h="1808509" w="2498655">
                <a:moveTo>
                  <a:pt x="0" y="0"/>
                </a:moveTo>
                <a:lnTo>
                  <a:pt x="2498655" y="0"/>
                </a:lnTo>
                <a:lnTo>
                  <a:pt x="2498655" y="1808509"/>
                </a:lnTo>
                <a:lnTo>
                  <a:pt x="0" y="18085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105" r="0" b="-3105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836553" y="2837209"/>
            <a:ext cx="2498655" cy="1987346"/>
            <a:chOff x="0" y="0"/>
            <a:chExt cx="5020960" cy="39935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20923" cy="3993515"/>
            </a:xfrm>
            <a:custGeom>
              <a:avLst/>
              <a:gdLst/>
              <a:ahLst/>
              <a:cxnLst/>
              <a:rect r="r" b="b" t="t" l="l"/>
              <a:pathLst>
                <a:path h="3993515" w="5020923">
                  <a:moveTo>
                    <a:pt x="0" y="0"/>
                  </a:moveTo>
                  <a:lnTo>
                    <a:pt x="5020923" y="0"/>
                  </a:lnTo>
                  <a:lnTo>
                    <a:pt x="5020923" y="3993515"/>
                  </a:lnTo>
                  <a:lnTo>
                    <a:pt x="0" y="3993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119" r="0" b="-3119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2836553" y="4815030"/>
            <a:ext cx="2498655" cy="2171468"/>
          </a:xfrm>
          <a:custGeom>
            <a:avLst/>
            <a:gdLst/>
            <a:ahLst/>
            <a:cxnLst/>
            <a:rect r="r" b="b" t="t" l="l"/>
            <a:pathLst>
              <a:path h="2171468" w="2498655">
                <a:moveTo>
                  <a:pt x="0" y="0"/>
                </a:moveTo>
                <a:lnTo>
                  <a:pt x="2498655" y="0"/>
                </a:lnTo>
                <a:lnTo>
                  <a:pt x="2498655" y="2171468"/>
                </a:lnTo>
                <a:lnTo>
                  <a:pt x="0" y="21714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7533" r="0" b="-7533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836553" y="6956260"/>
            <a:ext cx="2498655" cy="2302040"/>
          </a:xfrm>
          <a:custGeom>
            <a:avLst/>
            <a:gdLst/>
            <a:ahLst/>
            <a:cxnLst/>
            <a:rect r="r" b="b" t="t" l="l"/>
            <a:pathLst>
              <a:path h="2302040" w="2498655">
                <a:moveTo>
                  <a:pt x="0" y="0"/>
                </a:moveTo>
                <a:lnTo>
                  <a:pt x="2498655" y="0"/>
                </a:lnTo>
                <a:lnTo>
                  <a:pt x="2498655" y="2302040"/>
                </a:lnTo>
                <a:lnTo>
                  <a:pt x="0" y="23020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270" r="0" b="-4270"/>
            </a:stretch>
          </a:blipFill>
        </p:spPr>
      </p:sp>
    </p:spTree>
  </p:cSld>
  <p:clrMapOvr>
    <a:masterClrMapping/>
  </p:clrMapOvr>
  <p:transition spd="fast">
    <p:cover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34301" y="3738753"/>
            <a:ext cx="10419398" cy="2609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68"/>
              </a:lnSpc>
            </a:pPr>
            <a:r>
              <a:rPr lang="en-US" sz="7200" spc="599">
                <a:solidFill>
                  <a:srgbClr val="E7C6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&amp; Optimization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12893" y="895350"/>
            <a:ext cx="3662214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00"/>
              </a:lnSpc>
              <a:spcBef>
                <a:spcPct val="0"/>
              </a:spcBef>
            </a:pPr>
            <a:r>
              <a:rPr lang="en-US" b="true" sz="7500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PART 04</a:t>
            </a:r>
          </a:p>
        </p:txBody>
      </p:sp>
    </p:spTree>
  </p:cSld>
  <p:clrMapOvr>
    <a:masterClrMapping/>
  </p:clrMapOvr>
  <p:transition spd="fast">
    <p:cover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05936" y="3185436"/>
            <a:ext cx="892626" cy="892629"/>
            <a:chOff x="0" y="0"/>
            <a:chExt cx="1190168" cy="11901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90117" cy="1190121"/>
            </a:xfrm>
            <a:custGeom>
              <a:avLst/>
              <a:gdLst/>
              <a:ahLst/>
              <a:cxnLst/>
              <a:rect r="r" b="b" t="t" l="l"/>
              <a:pathLst>
                <a:path h="1190121" w="1190117">
                  <a:moveTo>
                    <a:pt x="0" y="595124"/>
                  </a:moveTo>
                  <a:cubicBezTo>
                    <a:pt x="0" y="266447"/>
                    <a:pt x="266446" y="0"/>
                    <a:pt x="595122" y="0"/>
                  </a:cubicBezTo>
                  <a:cubicBezTo>
                    <a:pt x="923798" y="0"/>
                    <a:pt x="1190117" y="266447"/>
                    <a:pt x="1190117" y="595124"/>
                  </a:cubicBezTo>
                  <a:cubicBezTo>
                    <a:pt x="1190117" y="923801"/>
                    <a:pt x="923798" y="1190121"/>
                    <a:pt x="595122" y="1190121"/>
                  </a:cubicBezTo>
                  <a:cubicBezTo>
                    <a:pt x="266446" y="1190121"/>
                    <a:pt x="0" y="923801"/>
                    <a:pt x="0" y="59512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1DDAA">
                    <a:alpha val="100000"/>
                  </a:srgbClr>
                </a:gs>
                <a:gs pos="50000">
                  <a:srgbClr val="E7C67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190168" cy="1199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0"/>
                </a:lnSpc>
              </a:pPr>
              <a:r>
                <a:rPr lang="en-US" sz="2158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01</a:t>
              </a:r>
            </a:p>
          </p:txBody>
        </p:sp>
      </p:grpSp>
      <p:sp>
        <p:nvSpPr>
          <p:cNvPr name="AutoShape 6" id="6"/>
          <p:cNvSpPr/>
          <p:nvPr/>
        </p:nvSpPr>
        <p:spPr>
          <a:xfrm rot="5390820">
            <a:off x="-631412" y="5851408"/>
            <a:ext cx="3565760" cy="0"/>
          </a:xfrm>
          <a:prstGeom prst="line">
            <a:avLst/>
          </a:prstGeom>
          <a:ln cap="rnd" w="9525">
            <a:solidFill>
              <a:srgbClr val="E7C67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072382" y="7610475"/>
            <a:ext cx="138789" cy="138789"/>
            <a:chOff x="0" y="0"/>
            <a:chExt cx="185052" cy="1850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5166" cy="185166"/>
            </a:xfrm>
            <a:custGeom>
              <a:avLst/>
              <a:gdLst/>
              <a:ahLst/>
              <a:cxnLst/>
              <a:rect r="r" b="b" t="t" l="l"/>
              <a:pathLst>
                <a:path h="185166" w="185166">
                  <a:moveTo>
                    <a:pt x="0" y="92583"/>
                  </a:moveTo>
                  <a:cubicBezTo>
                    <a:pt x="0" y="41402"/>
                    <a:pt x="41402" y="0"/>
                    <a:pt x="92583" y="0"/>
                  </a:cubicBezTo>
                  <a:cubicBezTo>
                    <a:pt x="143764" y="0"/>
                    <a:pt x="185166" y="41402"/>
                    <a:pt x="185166" y="92583"/>
                  </a:cubicBezTo>
                  <a:cubicBezTo>
                    <a:pt x="185166" y="143764"/>
                    <a:pt x="143764" y="185166"/>
                    <a:pt x="92583" y="185166"/>
                  </a:cubicBezTo>
                  <a:cubicBezTo>
                    <a:pt x="41402" y="185166"/>
                    <a:pt x="0" y="143637"/>
                    <a:pt x="0" y="92583"/>
                  </a:cubicBezTo>
                  <a:close/>
                </a:path>
              </a:pathLst>
            </a:custGeom>
            <a:solidFill>
              <a:srgbClr val="E7C67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406766" y="3185436"/>
            <a:ext cx="892626" cy="892629"/>
            <a:chOff x="0" y="0"/>
            <a:chExt cx="1190168" cy="11901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90117" cy="1190121"/>
            </a:xfrm>
            <a:custGeom>
              <a:avLst/>
              <a:gdLst/>
              <a:ahLst/>
              <a:cxnLst/>
              <a:rect r="r" b="b" t="t" l="l"/>
              <a:pathLst>
                <a:path h="1190121" w="1190117">
                  <a:moveTo>
                    <a:pt x="0" y="595124"/>
                  </a:moveTo>
                  <a:cubicBezTo>
                    <a:pt x="0" y="266447"/>
                    <a:pt x="266446" y="0"/>
                    <a:pt x="595122" y="0"/>
                  </a:cubicBezTo>
                  <a:cubicBezTo>
                    <a:pt x="923798" y="0"/>
                    <a:pt x="1190117" y="266447"/>
                    <a:pt x="1190117" y="595124"/>
                  </a:cubicBezTo>
                  <a:cubicBezTo>
                    <a:pt x="1190117" y="923801"/>
                    <a:pt x="923798" y="1190121"/>
                    <a:pt x="595122" y="1190121"/>
                  </a:cubicBezTo>
                  <a:cubicBezTo>
                    <a:pt x="266446" y="1190121"/>
                    <a:pt x="0" y="923801"/>
                    <a:pt x="0" y="59512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1DDAA">
                    <a:alpha val="100000"/>
                  </a:srgbClr>
                </a:gs>
                <a:gs pos="50000">
                  <a:srgbClr val="E7C67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190168" cy="1199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0"/>
                </a:lnSpc>
              </a:pPr>
              <a:r>
                <a:rPr lang="en-US" sz="2158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02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 rot="5386260">
            <a:off x="8067818" y="5851408"/>
            <a:ext cx="3570542" cy="0"/>
          </a:xfrm>
          <a:prstGeom prst="line">
            <a:avLst/>
          </a:prstGeom>
          <a:ln cap="rnd" w="9525">
            <a:solidFill>
              <a:srgbClr val="E7C67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9784899" y="7634288"/>
            <a:ext cx="138789" cy="138789"/>
            <a:chOff x="0" y="0"/>
            <a:chExt cx="185052" cy="1850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5166" cy="185166"/>
            </a:xfrm>
            <a:custGeom>
              <a:avLst/>
              <a:gdLst/>
              <a:ahLst/>
              <a:cxnLst/>
              <a:rect r="r" b="b" t="t" l="l"/>
              <a:pathLst>
                <a:path h="185166" w="185166">
                  <a:moveTo>
                    <a:pt x="0" y="92583"/>
                  </a:moveTo>
                  <a:cubicBezTo>
                    <a:pt x="0" y="41402"/>
                    <a:pt x="41402" y="0"/>
                    <a:pt x="92583" y="0"/>
                  </a:cubicBezTo>
                  <a:cubicBezTo>
                    <a:pt x="143764" y="0"/>
                    <a:pt x="185166" y="41402"/>
                    <a:pt x="185166" y="92583"/>
                  </a:cubicBezTo>
                  <a:cubicBezTo>
                    <a:pt x="185166" y="143764"/>
                    <a:pt x="143764" y="185166"/>
                    <a:pt x="92583" y="185166"/>
                  </a:cubicBezTo>
                  <a:cubicBezTo>
                    <a:pt x="41402" y="185166"/>
                    <a:pt x="0" y="143637"/>
                    <a:pt x="0" y="92583"/>
                  </a:cubicBezTo>
                  <a:close/>
                </a:path>
              </a:pathLst>
            </a:custGeom>
            <a:solidFill>
              <a:srgbClr val="E7C67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0" y="480060"/>
            <a:ext cx="1027748" cy="1078230"/>
            <a:chOff x="0" y="0"/>
            <a:chExt cx="1370330" cy="1437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70330" cy="1437640"/>
            </a:xfrm>
            <a:custGeom>
              <a:avLst/>
              <a:gdLst/>
              <a:ahLst/>
              <a:cxnLst/>
              <a:rect r="r" b="b" t="t" l="l"/>
              <a:pathLst>
                <a:path h="1437640" w="1370330">
                  <a:moveTo>
                    <a:pt x="767080" y="0"/>
                  </a:moveTo>
                  <a:lnTo>
                    <a:pt x="0" y="0"/>
                  </a:lnTo>
                  <a:lnTo>
                    <a:pt x="0" y="1437640"/>
                  </a:lnTo>
                  <a:lnTo>
                    <a:pt x="767080" y="1437640"/>
                  </a:lnTo>
                  <a:lnTo>
                    <a:pt x="1370330" y="718820"/>
                  </a:lnTo>
                  <a:lnTo>
                    <a:pt x="767080" y="0"/>
                  </a:lnTo>
                  <a:close/>
                </a:path>
              </a:pathLst>
            </a:custGeom>
            <a:solidFill>
              <a:srgbClr val="E7C67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604010" y="3877628"/>
            <a:ext cx="7290435" cy="1164336"/>
            <a:chOff x="0" y="0"/>
            <a:chExt cx="9720580" cy="15524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20580" cy="1552453"/>
            </a:xfrm>
            <a:custGeom>
              <a:avLst/>
              <a:gdLst/>
              <a:ahLst/>
              <a:cxnLst/>
              <a:rect r="r" b="b" t="t" l="l"/>
              <a:pathLst>
                <a:path h="1552453" w="9720580">
                  <a:moveTo>
                    <a:pt x="0" y="0"/>
                  </a:moveTo>
                  <a:lnTo>
                    <a:pt x="9720580" y="0"/>
                  </a:lnTo>
                  <a:lnTo>
                    <a:pt x="9720580" y="1552453"/>
                  </a:lnTo>
                  <a:lnTo>
                    <a:pt x="0" y="15524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220" r="0" b="-5678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9720580" cy="1581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688468" y="4560884"/>
            <a:ext cx="7110098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5775" indent="-242888" lvl="1">
              <a:lnSpc>
                <a:spcPts val="450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Buildroot Linux (custom OS)  </a:t>
            </a:r>
          </a:p>
          <a:p>
            <a:pPr algn="l" marL="485775" indent="-242888" lvl="1">
              <a:lnSpc>
                <a:spcPts val="450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for control &amp; AI pipeline  </a:t>
            </a:r>
          </a:p>
          <a:p>
            <a:pPr algn="l" marL="485775" indent="-242888" lvl="1">
              <a:lnSpc>
                <a:spcPts val="450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Lightweight embedded system 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389556" y="4560884"/>
            <a:ext cx="7110098" cy="224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5775" indent="-242888" lvl="1">
              <a:lnSpc>
                <a:spcPts val="450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YOLOv8-Nano (object detection)  </a:t>
            </a:r>
          </a:p>
          <a:p>
            <a:pPr algn="l" marL="485775" indent="-242888" lvl="1">
              <a:lnSpc>
                <a:spcPts val="450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Optimized for edge devices  </a:t>
            </a:r>
          </a:p>
          <a:p>
            <a:pPr algn="l" marL="485775" indent="-242888" lvl="1">
              <a:lnSpc>
                <a:spcPts val="450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RKNN Toolkit2 for NPU  </a:t>
            </a:r>
          </a:p>
          <a:p>
            <a:pPr algn="l" marL="485775" indent="-242888" lvl="1">
              <a:lnSpc>
                <a:spcPts val="450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 and low-latency inference 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88593" y="3953066"/>
            <a:ext cx="6014740" cy="50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b="true" sz="3000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Operating System and Programming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811311" y="3953066"/>
            <a:ext cx="5461992" cy="50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b="true" sz="3000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 Model and Optimization Tools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223184" y="542925"/>
            <a:ext cx="8013204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  <a:spcBef>
                <a:spcPct val="0"/>
              </a:spcBef>
            </a:pPr>
            <a:r>
              <a:rPr lang="en-US" b="true" sz="5000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Software &amp; Technology Stack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43997" y="2012585"/>
            <a:ext cx="8484794" cy="7401582"/>
            <a:chOff x="0" y="0"/>
            <a:chExt cx="11313058" cy="98687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313040" cy="9868789"/>
            </a:xfrm>
            <a:custGeom>
              <a:avLst/>
              <a:gdLst/>
              <a:ahLst/>
              <a:cxnLst/>
              <a:rect r="r" b="b" t="t" l="l"/>
              <a:pathLst>
                <a:path h="9868789" w="11313040">
                  <a:moveTo>
                    <a:pt x="0" y="597916"/>
                  </a:moveTo>
                  <a:lnTo>
                    <a:pt x="0" y="9270873"/>
                  </a:lnTo>
                  <a:cubicBezTo>
                    <a:pt x="0" y="9601073"/>
                    <a:pt x="279908" y="9868789"/>
                    <a:pt x="625221" y="9868789"/>
                  </a:cubicBezTo>
                  <a:lnTo>
                    <a:pt x="8728202" y="9868789"/>
                  </a:lnTo>
                  <a:cubicBezTo>
                    <a:pt x="9022588" y="9868789"/>
                    <a:pt x="9277097" y="9672320"/>
                    <a:pt x="9339326" y="9397238"/>
                  </a:cubicBezTo>
                  <a:lnTo>
                    <a:pt x="11298682" y="724154"/>
                  </a:lnTo>
                  <a:cubicBezTo>
                    <a:pt x="11382883" y="351663"/>
                    <a:pt x="11086084" y="0"/>
                    <a:pt x="10687685" y="0"/>
                  </a:cubicBezTo>
                  <a:lnTo>
                    <a:pt x="625221" y="0"/>
                  </a:lnTo>
                  <a:cubicBezTo>
                    <a:pt x="279908" y="0"/>
                    <a:pt x="0" y="267716"/>
                    <a:pt x="0" y="597916"/>
                  </a:cubicBezTo>
                  <a:close/>
                </a:path>
              </a:pathLst>
            </a:custGeom>
            <a:solidFill>
              <a:srgbClr val="3A302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8636270" y="2012585"/>
            <a:ext cx="8484794" cy="7401582"/>
            <a:chOff x="0" y="0"/>
            <a:chExt cx="11313058" cy="98687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7" y="-127"/>
              <a:ext cx="11313133" cy="9868916"/>
            </a:xfrm>
            <a:custGeom>
              <a:avLst/>
              <a:gdLst/>
              <a:ahLst/>
              <a:cxnLst/>
              <a:rect r="r" b="b" t="t" l="l"/>
              <a:pathLst>
                <a:path h="9868916" w="11313133">
                  <a:moveTo>
                    <a:pt x="11313006" y="9271000"/>
                  </a:moveTo>
                  <a:lnTo>
                    <a:pt x="11313006" y="597916"/>
                  </a:lnTo>
                  <a:cubicBezTo>
                    <a:pt x="11313006" y="267716"/>
                    <a:pt x="11033098" y="0"/>
                    <a:pt x="10687785" y="0"/>
                  </a:cubicBezTo>
                  <a:lnTo>
                    <a:pt x="2584804" y="0"/>
                  </a:lnTo>
                  <a:cubicBezTo>
                    <a:pt x="2290418" y="0"/>
                    <a:pt x="2035910" y="196469"/>
                    <a:pt x="1973680" y="471551"/>
                  </a:cubicBezTo>
                  <a:lnTo>
                    <a:pt x="14324" y="9144762"/>
                  </a:lnTo>
                  <a:cubicBezTo>
                    <a:pt x="-69750" y="9517253"/>
                    <a:pt x="226922" y="9868916"/>
                    <a:pt x="625448" y="9868916"/>
                  </a:cubicBezTo>
                  <a:lnTo>
                    <a:pt x="10687912" y="9868916"/>
                  </a:lnTo>
                  <a:cubicBezTo>
                    <a:pt x="11033225" y="9868916"/>
                    <a:pt x="11313133" y="9601200"/>
                    <a:pt x="11313133" y="9271000"/>
                  </a:cubicBezTo>
                  <a:close/>
                </a:path>
              </a:pathLst>
            </a:custGeom>
            <a:solidFill>
              <a:srgbClr val="3A3021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517018" y="3787454"/>
            <a:ext cx="6355718" cy="50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000" b="true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Model Compression Strategy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53361" y="3789359"/>
            <a:ext cx="6355718" cy="50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60"/>
              </a:lnSpc>
            </a:pPr>
            <a:r>
              <a:rPr lang="en-US" sz="3000" b="true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Optimization Results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17018" y="4950457"/>
            <a:ext cx="6353661" cy="224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5775" indent="-242888" lvl="1">
              <a:lnSpc>
                <a:spcPts val="450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YOLOv8-Nano model used  </a:t>
            </a:r>
          </a:p>
          <a:p>
            <a:pPr algn="l" marL="485775" indent="-242888" lvl="1">
              <a:lnSpc>
                <a:spcPts val="450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Converted to ONNX format  </a:t>
            </a:r>
          </a:p>
          <a:p>
            <a:pPr algn="l" marL="485775" indent="-242888" lvl="1">
              <a:lnSpc>
                <a:spcPts val="450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Applied INT8 quantization  </a:t>
            </a:r>
          </a:p>
          <a:p>
            <a:pPr algn="l" marL="485775" indent="-242888" lvl="1">
              <a:lnSpc>
                <a:spcPts val="450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Optimized using RKNN Toolkit 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55409" y="4998082"/>
            <a:ext cx="6353661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5775" indent="-242888" lvl="1">
              <a:lnSpc>
                <a:spcPts val="405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Reduced model size  </a:t>
            </a:r>
          </a:p>
          <a:p>
            <a:pPr algn="l" marL="485775" indent="-242888" lvl="1">
              <a:lnSpc>
                <a:spcPts val="405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Faster inference speed  </a:t>
            </a:r>
          </a:p>
          <a:p>
            <a:pPr algn="l" marL="485775" indent="-242888" lvl="1">
              <a:lnSpc>
                <a:spcPts val="405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Maintains good accuracy  </a:t>
            </a:r>
          </a:p>
          <a:p>
            <a:pPr algn="l" marL="485775" indent="-242888" lvl="1">
              <a:lnSpc>
                <a:spcPts val="450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Suitable for real-time edge use  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0" y="480060"/>
            <a:ext cx="1027748" cy="1078230"/>
            <a:chOff x="0" y="0"/>
            <a:chExt cx="1370330" cy="1437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70330" cy="1437640"/>
            </a:xfrm>
            <a:custGeom>
              <a:avLst/>
              <a:gdLst/>
              <a:ahLst/>
              <a:cxnLst/>
              <a:rect r="r" b="b" t="t" l="l"/>
              <a:pathLst>
                <a:path h="1437640" w="1370330">
                  <a:moveTo>
                    <a:pt x="767080" y="0"/>
                  </a:moveTo>
                  <a:lnTo>
                    <a:pt x="0" y="0"/>
                  </a:lnTo>
                  <a:lnTo>
                    <a:pt x="0" y="1437640"/>
                  </a:lnTo>
                  <a:lnTo>
                    <a:pt x="767080" y="1437640"/>
                  </a:lnTo>
                  <a:lnTo>
                    <a:pt x="1370330" y="718820"/>
                  </a:lnTo>
                  <a:lnTo>
                    <a:pt x="767080" y="0"/>
                  </a:lnTo>
                  <a:close/>
                </a:path>
              </a:pathLst>
            </a:custGeom>
            <a:solidFill>
              <a:srgbClr val="E7C671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517018" y="2454678"/>
            <a:ext cx="1010574" cy="970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4"/>
              </a:lnSpc>
              <a:spcBef>
                <a:spcPct val="0"/>
              </a:spcBef>
            </a:pPr>
            <a:r>
              <a:rPr lang="en-US" b="true" sz="5700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469747" y="2454678"/>
            <a:ext cx="935161" cy="970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4"/>
              </a:lnSpc>
              <a:spcBef>
                <a:spcPct val="0"/>
              </a:spcBef>
            </a:pPr>
            <a:r>
              <a:rPr lang="en-US" b="true" sz="5700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19384" y="542925"/>
            <a:ext cx="13033772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  <a:spcBef>
                <a:spcPct val="0"/>
              </a:spcBef>
            </a:pPr>
            <a:r>
              <a:rPr lang="en-US" b="true" sz="5000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 Model Optimization with INT8 Quantization</a:t>
            </a:r>
          </a:p>
        </p:txBody>
      </p:sp>
    </p:spTree>
  </p:cSld>
  <p:clrMapOvr>
    <a:masterClrMapping/>
  </p:clrMapOvr>
  <p:transition spd="fast">
    <p:cover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49361" y="3738753"/>
            <a:ext cx="10989278" cy="1295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68"/>
              </a:lnSpc>
            </a:pPr>
            <a:r>
              <a:rPr lang="en-US" sz="7200" spc="599">
                <a:solidFill>
                  <a:srgbClr val="E7C6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&amp; Logic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52383" y="923925"/>
            <a:ext cx="2783235" cy="970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4"/>
              </a:lnSpc>
              <a:spcBef>
                <a:spcPct val="0"/>
              </a:spcBef>
            </a:pPr>
            <a:r>
              <a:rPr lang="en-US" b="true" sz="5700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PART 05</a:t>
            </a:r>
          </a:p>
        </p:txBody>
      </p:sp>
    </p:spTree>
  </p:cSld>
  <p:clrMapOvr>
    <a:masterClrMapping/>
  </p:clrMapOvr>
  <p:transition spd="fast">
    <p:cover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04988" y="2654617"/>
            <a:ext cx="7848600" cy="6546532"/>
          </a:xfrm>
          <a:custGeom>
            <a:avLst/>
            <a:gdLst/>
            <a:ahLst/>
            <a:cxnLst/>
            <a:rect r="r" b="b" t="t" l="l"/>
            <a:pathLst>
              <a:path h="6546532" w="7848600">
                <a:moveTo>
                  <a:pt x="0" y="0"/>
                </a:moveTo>
                <a:lnTo>
                  <a:pt x="7848600" y="0"/>
                </a:lnTo>
                <a:lnTo>
                  <a:pt x="7848600" y="6546533"/>
                </a:lnTo>
                <a:lnTo>
                  <a:pt x="0" y="65465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82083" y="2654617"/>
            <a:ext cx="8111442" cy="6546532"/>
          </a:xfrm>
          <a:custGeom>
            <a:avLst/>
            <a:gdLst/>
            <a:ahLst/>
            <a:cxnLst/>
            <a:rect r="r" b="b" t="t" l="l"/>
            <a:pathLst>
              <a:path h="6546532" w="8111442">
                <a:moveTo>
                  <a:pt x="0" y="0"/>
                </a:moveTo>
                <a:lnTo>
                  <a:pt x="8111442" y="0"/>
                </a:lnTo>
                <a:lnTo>
                  <a:pt x="8111442" y="6546533"/>
                </a:lnTo>
                <a:lnTo>
                  <a:pt x="0" y="65465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90423" y="5266687"/>
            <a:ext cx="6191660" cy="1538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62"/>
              </a:lnSpc>
            </a:pP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 Capture image (</a:t>
            </a:r>
            <a:r>
              <a:rPr lang="en-US" sz="225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SC3336 Camera</a:t>
            </a: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 </a:t>
            </a:r>
          </a:p>
          <a:p>
            <a:pPr algn="just">
              <a:lnSpc>
                <a:spcPts val="4162"/>
              </a:lnSpc>
            </a:pPr>
          </a:p>
          <a:p>
            <a:pPr algn="just">
              <a:lnSpc>
                <a:spcPts val="4162"/>
              </a:lnSpc>
            </a:pP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2: Preprocess (resize, normalize) 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16151" y="4078919"/>
            <a:ext cx="6255903" cy="3633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62"/>
              </a:lnSpc>
            </a:pP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3: Run </a:t>
            </a:r>
            <a:r>
              <a:rPr lang="en-US" sz="225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YOLOv8-Nano (NPU) </a:t>
            </a: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  <a:p>
            <a:pPr algn="just">
              <a:lnSpc>
                <a:spcPts val="4162"/>
              </a:lnSpc>
            </a:pPr>
          </a:p>
          <a:p>
            <a:pPr algn="just">
              <a:lnSpc>
                <a:spcPts val="4162"/>
              </a:lnSpc>
            </a:pP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4: Extract bounding boxes  </a:t>
            </a:r>
          </a:p>
          <a:p>
            <a:pPr algn="just">
              <a:lnSpc>
                <a:spcPts val="4162"/>
              </a:lnSpc>
            </a:pPr>
          </a:p>
          <a:p>
            <a:pPr algn="just">
              <a:lnSpc>
                <a:spcPts val="4162"/>
              </a:lnSpc>
            </a:pP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5: </a:t>
            </a:r>
            <a:r>
              <a:rPr lang="en-US" sz="225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Spatial logic</a:t>
            </a: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(-left|-center-|right-) </a:t>
            </a:r>
          </a:p>
          <a:p>
            <a:pPr algn="just">
              <a:lnSpc>
                <a:spcPts val="4162"/>
              </a:lnSpc>
            </a:pP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  <a:p>
            <a:pPr algn="just">
              <a:lnSpc>
                <a:spcPts val="4162"/>
              </a:lnSpc>
            </a:pP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6: </a:t>
            </a:r>
            <a:r>
              <a:rPr lang="en-US" sz="225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Output alerts</a:t>
            </a:r>
            <a:r>
              <a:rPr lang="en-US"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(Audio + Vibration via GPIO)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0" y="480060"/>
            <a:ext cx="1027748" cy="1078230"/>
            <a:chOff x="0" y="0"/>
            <a:chExt cx="1370330" cy="1437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70330" cy="1437640"/>
            </a:xfrm>
            <a:custGeom>
              <a:avLst/>
              <a:gdLst/>
              <a:ahLst/>
              <a:cxnLst/>
              <a:rect r="r" b="b" t="t" l="l"/>
              <a:pathLst>
                <a:path h="1437640" w="1370330">
                  <a:moveTo>
                    <a:pt x="767080" y="0"/>
                  </a:moveTo>
                  <a:lnTo>
                    <a:pt x="0" y="0"/>
                  </a:lnTo>
                  <a:lnTo>
                    <a:pt x="0" y="1437640"/>
                  </a:lnTo>
                  <a:lnTo>
                    <a:pt x="767080" y="1437640"/>
                  </a:lnTo>
                  <a:lnTo>
                    <a:pt x="1370330" y="718820"/>
                  </a:lnTo>
                  <a:lnTo>
                    <a:pt x="767080" y="0"/>
                  </a:lnTo>
                  <a:close/>
                </a:path>
              </a:pathLst>
            </a:custGeom>
            <a:solidFill>
              <a:srgbClr val="E7C671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2370630" y="4364741"/>
            <a:ext cx="5535216" cy="50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b="true" sz="3000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Image Capture and Preprocessing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53142" y="542925"/>
            <a:ext cx="8384232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  <a:spcBef>
                <a:spcPct val="0"/>
              </a:spcBef>
            </a:pPr>
            <a:r>
              <a:rPr lang="en-US" b="true" sz="5000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Step-by-Step Working Pipeline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35170" y="3108082"/>
            <a:ext cx="4491186" cy="50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b="true" sz="3000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Inference and Spatial Logic</a:t>
            </a:r>
          </a:p>
        </p:txBody>
      </p:sp>
    </p:spTree>
  </p:cSld>
  <p:clrMapOvr>
    <a:masterClrMapping/>
  </p:clrMapOvr>
  <p:transition spd="fast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69181" y="2219039"/>
            <a:ext cx="16206788" cy="3332607"/>
            <a:chOff x="0" y="0"/>
            <a:chExt cx="21609050" cy="4443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609050" cy="4443476"/>
            </a:xfrm>
            <a:custGeom>
              <a:avLst/>
              <a:gdLst/>
              <a:ahLst/>
              <a:cxnLst/>
              <a:rect r="r" b="b" t="t" l="l"/>
              <a:pathLst>
                <a:path h="4443476" w="21609050">
                  <a:moveTo>
                    <a:pt x="0" y="440690"/>
                  </a:moveTo>
                  <a:cubicBezTo>
                    <a:pt x="243459" y="440690"/>
                    <a:pt x="440690" y="243459"/>
                    <a:pt x="440690" y="0"/>
                  </a:cubicBezTo>
                  <a:lnTo>
                    <a:pt x="21168361" y="0"/>
                  </a:lnTo>
                  <a:cubicBezTo>
                    <a:pt x="21168361" y="243459"/>
                    <a:pt x="21365719" y="440690"/>
                    <a:pt x="21609050" y="440690"/>
                  </a:cubicBezTo>
                  <a:lnTo>
                    <a:pt x="21609050" y="4002786"/>
                  </a:lnTo>
                  <a:cubicBezTo>
                    <a:pt x="21365592" y="4002786"/>
                    <a:pt x="21168361" y="4200144"/>
                    <a:pt x="21168361" y="4443476"/>
                  </a:cubicBezTo>
                  <a:lnTo>
                    <a:pt x="440690" y="4443476"/>
                  </a:lnTo>
                  <a:cubicBezTo>
                    <a:pt x="440690" y="4200017"/>
                    <a:pt x="243332" y="4002786"/>
                    <a:pt x="0" y="4002786"/>
                  </a:cubicBezTo>
                  <a:close/>
                </a:path>
              </a:pathLst>
            </a:custGeom>
            <a:solidFill>
              <a:srgbClr val="3A3021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-1524" y="-1651"/>
              <a:ext cx="21612100" cy="4446651"/>
            </a:xfrm>
            <a:custGeom>
              <a:avLst/>
              <a:gdLst/>
              <a:ahLst/>
              <a:cxnLst/>
              <a:rect r="r" b="b" t="t" l="l"/>
              <a:pathLst>
                <a:path h="4446651" w="21612100">
                  <a:moveTo>
                    <a:pt x="1524" y="440817"/>
                  </a:moveTo>
                  <a:lnTo>
                    <a:pt x="1524" y="442341"/>
                  </a:lnTo>
                  <a:lnTo>
                    <a:pt x="1524" y="440817"/>
                  </a:lnTo>
                  <a:cubicBezTo>
                    <a:pt x="244094" y="440817"/>
                    <a:pt x="440690" y="244221"/>
                    <a:pt x="440690" y="1651"/>
                  </a:cubicBezTo>
                  <a:cubicBezTo>
                    <a:pt x="440690" y="762"/>
                    <a:pt x="441452" y="127"/>
                    <a:pt x="442214" y="127"/>
                  </a:cubicBezTo>
                  <a:lnTo>
                    <a:pt x="21169885" y="127"/>
                  </a:lnTo>
                  <a:lnTo>
                    <a:pt x="21169885" y="1651"/>
                  </a:lnTo>
                  <a:lnTo>
                    <a:pt x="21168361" y="1651"/>
                  </a:lnTo>
                  <a:lnTo>
                    <a:pt x="21169885" y="1651"/>
                  </a:lnTo>
                  <a:lnTo>
                    <a:pt x="21171409" y="1651"/>
                  </a:lnTo>
                  <a:cubicBezTo>
                    <a:pt x="21171409" y="244221"/>
                    <a:pt x="21368004" y="440817"/>
                    <a:pt x="21610574" y="440817"/>
                  </a:cubicBezTo>
                  <a:cubicBezTo>
                    <a:pt x="21611464" y="440817"/>
                    <a:pt x="21612099" y="441579"/>
                    <a:pt x="21612099" y="442341"/>
                  </a:cubicBezTo>
                  <a:lnTo>
                    <a:pt x="21612099" y="4004437"/>
                  </a:lnTo>
                  <a:cubicBezTo>
                    <a:pt x="21612099" y="4005326"/>
                    <a:pt x="21611337" y="4005961"/>
                    <a:pt x="21610574" y="4005961"/>
                  </a:cubicBezTo>
                  <a:cubicBezTo>
                    <a:pt x="21368004" y="4005961"/>
                    <a:pt x="21171409" y="4202557"/>
                    <a:pt x="21171409" y="4445127"/>
                  </a:cubicBezTo>
                  <a:cubicBezTo>
                    <a:pt x="21171409" y="4446016"/>
                    <a:pt x="21170647" y="4446651"/>
                    <a:pt x="21169885" y="4446651"/>
                  </a:cubicBezTo>
                  <a:lnTo>
                    <a:pt x="442214" y="4446651"/>
                  </a:lnTo>
                  <a:cubicBezTo>
                    <a:pt x="441325" y="4446651"/>
                    <a:pt x="440690" y="4445889"/>
                    <a:pt x="440690" y="4445127"/>
                  </a:cubicBezTo>
                  <a:cubicBezTo>
                    <a:pt x="440690" y="4202557"/>
                    <a:pt x="244094" y="4005961"/>
                    <a:pt x="1524" y="4005961"/>
                  </a:cubicBezTo>
                  <a:cubicBezTo>
                    <a:pt x="635" y="4005961"/>
                    <a:pt x="0" y="4005199"/>
                    <a:pt x="0" y="4004437"/>
                  </a:cubicBezTo>
                  <a:lnTo>
                    <a:pt x="0" y="442341"/>
                  </a:lnTo>
                  <a:cubicBezTo>
                    <a:pt x="0" y="441960"/>
                    <a:pt x="127" y="441579"/>
                    <a:pt x="508" y="441198"/>
                  </a:cubicBezTo>
                  <a:cubicBezTo>
                    <a:pt x="889" y="440817"/>
                    <a:pt x="1270" y="440690"/>
                    <a:pt x="1651" y="440690"/>
                  </a:cubicBezTo>
                  <a:moveTo>
                    <a:pt x="1651" y="443865"/>
                  </a:moveTo>
                  <a:lnTo>
                    <a:pt x="1651" y="442341"/>
                  </a:lnTo>
                  <a:lnTo>
                    <a:pt x="3048" y="442341"/>
                  </a:lnTo>
                  <a:lnTo>
                    <a:pt x="3048" y="4004437"/>
                  </a:lnTo>
                  <a:lnTo>
                    <a:pt x="1524" y="4004437"/>
                  </a:lnTo>
                  <a:lnTo>
                    <a:pt x="1524" y="4002913"/>
                  </a:lnTo>
                  <a:cubicBezTo>
                    <a:pt x="245872" y="4002913"/>
                    <a:pt x="443865" y="4200906"/>
                    <a:pt x="443865" y="4445254"/>
                  </a:cubicBezTo>
                  <a:lnTo>
                    <a:pt x="442214" y="4445254"/>
                  </a:lnTo>
                  <a:lnTo>
                    <a:pt x="442214" y="4443730"/>
                  </a:lnTo>
                  <a:lnTo>
                    <a:pt x="21169885" y="4443730"/>
                  </a:lnTo>
                  <a:lnTo>
                    <a:pt x="21169885" y="4445254"/>
                  </a:lnTo>
                  <a:lnTo>
                    <a:pt x="21168361" y="4445254"/>
                  </a:lnTo>
                  <a:cubicBezTo>
                    <a:pt x="21168361" y="4200906"/>
                    <a:pt x="21366353" y="4002913"/>
                    <a:pt x="21610701" y="4002913"/>
                  </a:cubicBezTo>
                  <a:lnTo>
                    <a:pt x="21610701" y="4004437"/>
                  </a:lnTo>
                  <a:lnTo>
                    <a:pt x="21609177" y="4004437"/>
                  </a:lnTo>
                  <a:lnTo>
                    <a:pt x="21609177" y="442341"/>
                  </a:lnTo>
                  <a:lnTo>
                    <a:pt x="21610701" y="442341"/>
                  </a:lnTo>
                  <a:lnTo>
                    <a:pt x="21610701" y="443865"/>
                  </a:lnTo>
                  <a:cubicBezTo>
                    <a:pt x="21366353" y="443865"/>
                    <a:pt x="21168361" y="245872"/>
                    <a:pt x="21168361" y="1524"/>
                  </a:cubicBezTo>
                  <a:cubicBezTo>
                    <a:pt x="21168361" y="635"/>
                    <a:pt x="21169122" y="0"/>
                    <a:pt x="21169885" y="0"/>
                  </a:cubicBezTo>
                  <a:cubicBezTo>
                    <a:pt x="21170647" y="0"/>
                    <a:pt x="21171409" y="762"/>
                    <a:pt x="21171409" y="1524"/>
                  </a:cubicBezTo>
                  <a:cubicBezTo>
                    <a:pt x="21171409" y="2286"/>
                    <a:pt x="21170647" y="3048"/>
                    <a:pt x="21169885" y="3048"/>
                  </a:cubicBezTo>
                  <a:lnTo>
                    <a:pt x="442214" y="3048"/>
                  </a:lnTo>
                  <a:lnTo>
                    <a:pt x="442214" y="1651"/>
                  </a:lnTo>
                  <a:lnTo>
                    <a:pt x="443738" y="1651"/>
                  </a:lnTo>
                  <a:cubicBezTo>
                    <a:pt x="443865" y="245999"/>
                    <a:pt x="245872" y="443992"/>
                    <a:pt x="1524" y="443992"/>
                  </a:cubicBezTo>
                  <a:close/>
                </a:path>
              </a:pathLst>
            </a:custGeom>
            <a:solidFill>
              <a:srgbClr val="E7C67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1461" y="2398733"/>
            <a:ext cx="15922228" cy="2973219"/>
            <a:chOff x="0" y="0"/>
            <a:chExt cx="21229638" cy="39642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229574" cy="3964305"/>
            </a:xfrm>
            <a:custGeom>
              <a:avLst/>
              <a:gdLst/>
              <a:ahLst/>
              <a:cxnLst/>
              <a:rect r="r" b="b" t="t" l="l"/>
              <a:pathLst>
                <a:path h="3964305" w="21229574">
                  <a:moveTo>
                    <a:pt x="0" y="393192"/>
                  </a:moveTo>
                  <a:cubicBezTo>
                    <a:pt x="217170" y="393192"/>
                    <a:pt x="393192" y="217170"/>
                    <a:pt x="393192" y="0"/>
                  </a:cubicBezTo>
                  <a:lnTo>
                    <a:pt x="20836381" y="0"/>
                  </a:lnTo>
                  <a:cubicBezTo>
                    <a:pt x="20836381" y="217170"/>
                    <a:pt x="21012403" y="393192"/>
                    <a:pt x="21229574" y="393192"/>
                  </a:cubicBezTo>
                  <a:lnTo>
                    <a:pt x="21229574" y="3571113"/>
                  </a:lnTo>
                  <a:cubicBezTo>
                    <a:pt x="21012403" y="3571113"/>
                    <a:pt x="20836381" y="3747135"/>
                    <a:pt x="20836381" y="3964305"/>
                  </a:cubicBezTo>
                  <a:lnTo>
                    <a:pt x="393192" y="3964305"/>
                  </a:lnTo>
                  <a:cubicBezTo>
                    <a:pt x="393192" y="3747135"/>
                    <a:pt x="217170" y="3571113"/>
                    <a:pt x="0" y="3571113"/>
                  </a:cubicBezTo>
                  <a:close/>
                </a:path>
              </a:pathLst>
            </a:custGeom>
            <a:solidFill>
              <a:srgbClr val="3A302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-1524" y="-1651"/>
              <a:ext cx="21232622" cy="3967480"/>
            </a:xfrm>
            <a:custGeom>
              <a:avLst/>
              <a:gdLst/>
              <a:ahLst/>
              <a:cxnLst/>
              <a:rect r="r" b="b" t="t" l="l"/>
              <a:pathLst>
                <a:path h="3967480" w="21232622">
                  <a:moveTo>
                    <a:pt x="1524" y="393319"/>
                  </a:moveTo>
                  <a:lnTo>
                    <a:pt x="1524" y="394843"/>
                  </a:lnTo>
                  <a:lnTo>
                    <a:pt x="1524" y="393319"/>
                  </a:lnTo>
                  <a:cubicBezTo>
                    <a:pt x="217805" y="393319"/>
                    <a:pt x="393192" y="217932"/>
                    <a:pt x="393192" y="1651"/>
                  </a:cubicBezTo>
                  <a:cubicBezTo>
                    <a:pt x="393192" y="762"/>
                    <a:pt x="393954" y="127"/>
                    <a:pt x="394716" y="127"/>
                  </a:cubicBezTo>
                  <a:lnTo>
                    <a:pt x="20837905" y="127"/>
                  </a:lnTo>
                  <a:lnTo>
                    <a:pt x="20837905" y="1651"/>
                  </a:lnTo>
                  <a:lnTo>
                    <a:pt x="20836381" y="1651"/>
                  </a:lnTo>
                  <a:lnTo>
                    <a:pt x="20837905" y="1651"/>
                  </a:lnTo>
                  <a:lnTo>
                    <a:pt x="20839429" y="1651"/>
                  </a:lnTo>
                  <a:cubicBezTo>
                    <a:pt x="20839429" y="217932"/>
                    <a:pt x="21014817" y="393319"/>
                    <a:pt x="21231098" y="393319"/>
                  </a:cubicBezTo>
                  <a:cubicBezTo>
                    <a:pt x="21231986" y="393319"/>
                    <a:pt x="21232622" y="394081"/>
                    <a:pt x="21232622" y="394843"/>
                  </a:cubicBezTo>
                  <a:lnTo>
                    <a:pt x="21232622" y="3572764"/>
                  </a:lnTo>
                  <a:cubicBezTo>
                    <a:pt x="21232622" y="3573653"/>
                    <a:pt x="21231859" y="3574288"/>
                    <a:pt x="21231098" y="3574288"/>
                  </a:cubicBezTo>
                  <a:cubicBezTo>
                    <a:pt x="21014817" y="3574288"/>
                    <a:pt x="20839429" y="3749675"/>
                    <a:pt x="20839429" y="3965956"/>
                  </a:cubicBezTo>
                  <a:cubicBezTo>
                    <a:pt x="20839429" y="3966845"/>
                    <a:pt x="20838668" y="3967480"/>
                    <a:pt x="20837905" y="3967480"/>
                  </a:cubicBezTo>
                  <a:lnTo>
                    <a:pt x="394716" y="3967480"/>
                  </a:lnTo>
                  <a:cubicBezTo>
                    <a:pt x="393827" y="3967480"/>
                    <a:pt x="393192" y="3966718"/>
                    <a:pt x="393192" y="3965956"/>
                  </a:cubicBezTo>
                  <a:cubicBezTo>
                    <a:pt x="393192" y="3749675"/>
                    <a:pt x="217805" y="3574288"/>
                    <a:pt x="1524" y="3574288"/>
                  </a:cubicBezTo>
                  <a:cubicBezTo>
                    <a:pt x="635" y="3574288"/>
                    <a:pt x="0" y="3573526"/>
                    <a:pt x="0" y="3572764"/>
                  </a:cubicBezTo>
                  <a:lnTo>
                    <a:pt x="0" y="394843"/>
                  </a:lnTo>
                  <a:cubicBezTo>
                    <a:pt x="0" y="394462"/>
                    <a:pt x="127" y="394081"/>
                    <a:pt x="508" y="393700"/>
                  </a:cubicBezTo>
                  <a:cubicBezTo>
                    <a:pt x="889" y="393319"/>
                    <a:pt x="1270" y="393192"/>
                    <a:pt x="1651" y="393192"/>
                  </a:cubicBezTo>
                  <a:moveTo>
                    <a:pt x="1651" y="396367"/>
                  </a:moveTo>
                  <a:lnTo>
                    <a:pt x="1651" y="394843"/>
                  </a:lnTo>
                  <a:lnTo>
                    <a:pt x="3048" y="394843"/>
                  </a:lnTo>
                  <a:lnTo>
                    <a:pt x="3048" y="3572764"/>
                  </a:lnTo>
                  <a:lnTo>
                    <a:pt x="1524" y="3572764"/>
                  </a:lnTo>
                  <a:lnTo>
                    <a:pt x="1524" y="3571240"/>
                  </a:lnTo>
                  <a:cubicBezTo>
                    <a:pt x="219583" y="3571240"/>
                    <a:pt x="396367" y="3748024"/>
                    <a:pt x="396367" y="3966083"/>
                  </a:cubicBezTo>
                  <a:lnTo>
                    <a:pt x="394843" y="3966083"/>
                  </a:lnTo>
                  <a:lnTo>
                    <a:pt x="394843" y="3964559"/>
                  </a:lnTo>
                  <a:lnTo>
                    <a:pt x="20838032" y="3964559"/>
                  </a:lnTo>
                  <a:lnTo>
                    <a:pt x="20838032" y="3966083"/>
                  </a:lnTo>
                  <a:lnTo>
                    <a:pt x="20836508" y="3966083"/>
                  </a:lnTo>
                  <a:cubicBezTo>
                    <a:pt x="20836508" y="3748024"/>
                    <a:pt x="21013293" y="3571240"/>
                    <a:pt x="21231352" y="3571240"/>
                  </a:cubicBezTo>
                  <a:lnTo>
                    <a:pt x="21231352" y="3572764"/>
                  </a:lnTo>
                  <a:lnTo>
                    <a:pt x="21229828" y="3572764"/>
                  </a:lnTo>
                  <a:lnTo>
                    <a:pt x="21229828" y="394843"/>
                  </a:lnTo>
                  <a:lnTo>
                    <a:pt x="21231352" y="394843"/>
                  </a:lnTo>
                  <a:lnTo>
                    <a:pt x="21231352" y="396367"/>
                  </a:lnTo>
                  <a:cubicBezTo>
                    <a:pt x="21013293" y="396367"/>
                    <a:pt x="20836508" y="219583"/>
                    <a:pt x="20836508" y="1524"/>
                  </a:cubicBezTo>
                  <a:cubicBezTo>
                    <a:pt x="20836508" y="635"/>
                    <a:pt x="20837271" y="0"/>
                    <a:pt x="20838032" y="0"/>
                  </a:cubicBezTo>
                  <a:cubicBezTo>
                    <a:pt x="20838795" y="0"/>
                    <a:pt x="20839556" y="762"/>
                    <a:pt x="20839556" y="1524"/>
                  </a:cubicBezTo>
                  <a:cubicBezTo>
                    <a:pt x="20839556" y="2286"/>
                    <a:pt x="20838795" y="3048"/>
                    <a:pt x="20838032" y="3048"/>
                  </a:cubicBezTo>
                  <a:lnTo>
                    <a:pt x="394716" y="3048"/>
                  </a:lnTo>
                  <a:lnTo>
                    <a:pt x="394716" y="1651"/>
                  </a:lnTo>
                  <a:lnTo>
                    <a:pt x="396240" y="1651"/>
                  </a:lnTo>
                  <a:cubicBezTo>
                    <a:pt x="396367" y="219710"/>
                    <a:pt x="219583" y="396494"/>
                    <a:pt x="1524" y="396494"/>
                  </a:cubicBezTo>
                  <a:close/>
                </a:path>
              </a:pathLst>
            </a:custGeom>
            <a:solidFill>
              <a:srgbClr val="E7C671">
                <a:alpha val="24706"/>
              </a:srgbClr>
            </a:solidFill>
          </p:spPr>
        </p:sp>
      </p:grpSp>
      <p:sp>
        <p:nvSpPr>
          <p:cNvPr name="AutoShape 9" id="9"/>
          <p:cNvSpPr/>
          <p:nvPr/>
        </p:nvSpPr>
        <p:spPr>
          <a:xfrm rot="5364720">
            <a:off x="4344048" y="3880475"/>
            <a:ext cx="1855689" cy="0"/>
          </a:xfrm>
          <a:prstGeom prst="line">
            <a:avLst/>
          </a:prstGeom>
          <a:ln cap="rnd" w="9525">
            <a:solidFill>
              <a:srgbClr val="E7C67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069181" y="6061596"/>
            <a:ext cx="16206788" cy="3332607"/>
            <a:chOff x="0" y="0"/>
            <a:chExt cx="21609050" cy="44434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609050" cy="4443476"/>
            </a:xfrm>
            <a:custGeom>
              <a:avLst/>
              <a:gdLst/>
              <a:ahLst/>
              <a:cxnLst/>
              <a:rect r="r" b="b" t="t" l="l"/>
              <a:pathLst>
                <a:path h="4443476" w="21609050">
                  <a:moveTo>
                    <a:pt x="0" y="440690"/>
                  </a:moveTo>
                  <a:cubicBezTo>
                    <a:pt x="243459" y="440690"/>
                    <a:pt x="440690" y="243459"/>
                    <a:pt x="440690" y="0"/>
                  </a:cubicBezTo>
                  <a:lnTo>
                    <a:pt x="21168361" y="0"/>
                  </a:lnTo>
                  <a:cubicBezTo>
                    <a:pt x="21168361" y="243459"/>
                    <a:pt x="21365719" y="440690"/>
                    <a:pt x="21609050" y="440690"/>
                  </a:cubicBezTo>
                  <a:lnTo>
                    <a:pt x="21609050" y="4002786"/>
                  </a:lnTo>
                  <a:cubicBezTo>
                    <a:pt x="21365592" y="4002786"/>
                    <a:pt x="21168361" y="4200144"/>
                    <a:pt x="21168361" y="4443476"/>
                  </a:cubicBezTo>
                  <a:lnTo>
                    <a:pt x="440690" y="4443476"/>
                  </a:lnTo>
                  <a:cubicBezTo>
                    <a:pt x="440690" y="4200017"/>
                    <a:pt x="243332" y="4002786"/>
                    <a:pt x="0" y="4002786"/>
                  </a:cubicBezTo>
                  <a:close/>
                </a:path>
              </a:pathLst>
            </a:custGeom>
            <a:solidFill>
              <a:srgbClr val="3A3021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-1524" y="-1651"/>
              <a:ext cx="21612100" cy="4446651"/>
            </a:xfrm>
            <a:custGeom>
              <a:avLst/>
              <a:gdLst/>
              <a:ahLst/>
              <a:cxnLst/>
              <a:rect r="r" b="b" t="t" l="l"/>
              <a:pathLst>
                <a:path h="4446651" w="21612100">
                  <a:moveTo>
                    <a:pt x="1524" y="440817"/>
                  </a:moveTo>
                  <a:lnTo>
                    <a:pt x="1524" y="442341"/>
                  </a:lnTo>
                  <a:lnTo>
                    <a:pt x="1524" y="440817"/>
                  </a:lnTo>
                  <a:cubicBezTo>
                    <a:pt x="244094" y="440817"/>
                    <a:pt x="440690" y="244221"/>
                    <a:pt x="440690" y="1651"/>
                  </a:cubicBezTo>
                  <a:cubicBezTo>
                    <a:pt x="440690" y="762"/>
                    <a:pt x="441452" y="127"/>
                    <a:pt x="442214" y="127"/>
                  </a:cubicBezTo>
                  <a:lnTo>
                    <a:pt x="21169885" y="127"/>
                  </a:lnTo>
                  <a:lnTo>
                    <a:pt x="21169885" y="1651"/>
                  </a:lnTo>
                  <a:lnTo>
                    <a:pt x="21168361" y="1651"/>
                  </a:lnTo>
                  <a:lnTo>
                    <a:pt x="21169885" y="1651"/>
                  </a:lnTo>
                  <a:lnTo>
                    <a:pt x="21171409" y="1651"/>
                  </a:lnTo>
                  <a:cubicBezTo>
                    <a:pt x="21171409" y="244221"/>
                    <a:pt x="21368004" y="440817"/>
                    <a:pt x="21610574" y="440817"/>
                  </a:cubicBezTo>
                  <a:cubicBezTo>
                    <a:pt x="21611464" y="440817"/>
                    <a:pt x="21612099" y="441579"/>
                    <a:pt x="21612099" y="442341"/>
                  </a:cubicBezTo>
                  <a:lnTo>
                    <a:pt x="21612099" y="4004437"/>
                  </a:lnTo>
                  <a:cubicBezTo>
                    <a:pt x="21612099" y="4005326"/>
                    <a:pt x="21611337" y="4005961"/>
                    <a:pt x="21610574" y="4005961"/>
                  </a:cubicBezTo>
                  <a:cubicBezTo>
                    <a:pt x="21368004" y="4005961"/>
                    <a:pt x="21171409" y="4202557"/>
                    <a:pt x="21171409" y="4445127"/>
                  </a:cubicBezTo>
                  <a:cubicBezTo>
                    <a:pt x="21171409" y="4446016"/>
                    <a:pt x="21170647" y="4446651"/>
                    <a:pt x="21169885" y="4446651"/>
                  </a:cubicBezTo>
                  <a:lnTo>
                    <a:pt x="442214" y="4446651"/>
                  </a:lnTo>
                  <a:cubicBezTo>
                    <a:pt x="441325" y="4446651"/>
                    <a:pt x="440690" y="4445889"/>
                    <a:pt x="440690" y="4445127"/>
                  </a:cubicBezTo>
                  <a:cubicBezTo>
                    <a:pt x="440690" y="4202557"/>
                    <a:pt x="244094" y="4005961"/>
                    <a:pt x="1524" y="4005961"/>
                  </a:cubicBezTo>
                  <a:cubicBezTo>
                    <a:pt x="635" y="4005961"/>
                    <a:pt x="0" y="4005199"/>
                    <a:pt x="0" y="4004437"/>
                  </a:cubicBezTo>
                  <a:lnTo>
                    <a:pt x="0" y="442341"/>
                  </a:lnTo>
                  <a:cubicBezTo>
                    <a:pt x="0" y="441960"/>
                    <a:pt x="127" y="441579"/>
                    <a:pt x="508" y="441198"/>
                  </a:cubicBezTo>
                  <a:cubicBezTo>
                    <a:pt x="889" y="440817"/>
                    <a:pt x="1270" y="440690"/>
                    <a:pt x="1651" y="440690"/>
                  </a:cubicBezTo>
                  <a:moveTo>
                    <a:pt x="1651" y="443865"/>
                  </a:moveTo>
                  <a:lnTo>
                    <a:pt x="1651" y="442341"/>
                  </a:lnTo>
                  <a:lnTo>
                    <a:pt x="3048" y="442341"/>
                  </a:lnTo>
                  <a:lnTo>
                    <a:pt x="3048" y="4004437"/>
                  </a:lnTo>
                  <a:lnTo>
                    <a:pt x="1524" y="4004437"/>
                  </a:lnTo>
                  <a:lnTo>
                    <a:pt x="1524" y="4002913"/>
                  </a:lnTo>
                  <a:cubicBezTo>
                    <a:pt x="245872" y="4002913"/>
                    <a:pt x="443865" y="4200906"/>
                    <a:pt x="443865" y="4445254"/>
                  </a:cubicBezTo>
                  <a:lnTo>
                    <a:pt x="442214" y="4445254"/>
                  </a:lnTo>
                  <a:lnTo>
                    <a:pt x="442214" y="4443730"/>
                  </a:lnTo>
                  <a:lnTo>
                    <a:pt x="21169885" y="4443730"/>
                  </a:lnTo>
                  <a:lnTo>
                    <a:pt x="21169885" y="4445254"/>
                  </a:lnTo>
                  <a:lnTo>
                    <a:pt x="21168361" y="4445254"/>
                  </a:lnTo>
                  <a:cubicBezTo>
                    <a:pt x="21168361" y="4200906"/>
                    <a:pt x="21366353" y="4002913"/>
                    <a:pt x="21610701" y="4002913"/>
                  </a:cubicBezTo>
                  <a:lnTo>
                    <a:pt x="21610701" y="4004437"/>
                  </a:lnTo>
                  <a:lnTo>
                    <a:pt x="21609177" y="4004437"/>
                  </a:lnTo>
                  <a:lnTo>
                    <a:pt x="21609177" y="442341"/>
                  </a:lnTo>
                  <a:lnTo>
                    <a:pt x="21610701" y="442341"/>
                  </a:lnTo>
                  <a:lnTo>
                    <a:pt x="21610701" y="443865"/>
                  </a:lnTo>
                  <a:cubicBezTo>
                    <a:pt x="21366353" y="443865"/>
                    <a:pt x="21168361" y="245872"/>
                    <a:pt x="21168361" y="1524"/>
                  </a:cubicBezTo>
                  <a:cubicBezTo>
                    <a:pt x="21168361" y="635"/>
                    <a:pt x="21169122" y="0"/>
                    <a:pt x="21169885" y="0"/>
                  </a:cubicBezTo>
                  <a:cubicBezTo>
                    <a:pt x="21170647" y="0"/>
                    <a:pt x="21171409" y="762"/>
                    <a:pt x="21171409" y="1524"/>
                  </a:cubicBezTo>
                  <a:cubicBezTo>
                    <a:pt x="21171409" y="2286"/>
                    <a:pt x="21170647" y="3048"/>
                    <a:pt x="21169885" y="3048"/>
                  </a:cubicBezTo>
                  <a:lnTo>
                    <a:pt x="442214" y="3048"/>
                  </a:lnTo>
                  <a:lnTo>
                    <a:pt x="442214" y="1651"/>
                  </a:lnTo>
                  <a:lnTo>
                    <a:pt x="443738" y="1651"/>
                  </a:lnTo>
                  <a:cubicBezTo>
                    <a:pt x="443865" y="245999"/>
                    <a:pt x="245872" y="443992"/>
                    <a:pt x="1524" y="443992"/>
                  </a:cubicBezTo>
                  <a:close/>
                </a:path>
              </a:pathLst>
            </a:custGeom>
            <a:solidFill>
              <a:srgbClr val="E7C671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11142" y="6240723"/>
            <a:ext cx="15922228" cy="2973219"/>
            <a:chOff x="0" y="0"/>
            <a:chExt cx="21229638" cy="39642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229574" cy="3964305"/>
            </a:xfrm>
            <a:custGeom>
              <a:avLst/>
              <a:gdLst/>
              <a:ahLst/>
              <a:cxnLst/>
              <a:rect r="r" b="b" t="t" l="l"/>
              <a:pathLst>
                <a:path h="3964305" w="21229574">
                  <a:moveTo>
                    <a:pt x="0" y="393192"/>
                  </a:moveTo>
                  <a:cubicBezTo>
                    <a:pt x="217170" y="393192"/>
                    <a:pt x="393192" y="217170"/>
                    <a:pt x="393192" y="0"/>
                  </a:cubicBezTo>
                  <a:lnTo>
                    <a:pt x="20836381" y="0"/>
                  </a:lnTo>
                  <a:cubicBezTo>
                    <a:pt x="20836381" y="217170"/>
                    <a:pt x="21012403" y="393192"/>
                    <a:pt x="21229574" y="393192"/>
                  </a:cubicBezTo>
                  <a:lnTo>
                    <a:pt x="21229574" y="3571113"/>
                  </a:lnTo>
                  <a:cubicBezTo>
                    <a:pt x="21012403" y="3571113"/>
                    <a:pt x="20836381" y="3747135"/>
                    <a:pt x="20836381" y="3964305"/>
                  </a:cubicBezTo>
                  <a:lnTo>
                    <a:pt x="393192" y="3964305"/>
                  </a:lnTo>
                  <a:cubicBezTo>
                    <a:pt x="393192" y="3747135"/>
                    <a:pt x="217170" y="3571113"/>
                    <a:pt x="0" y="3571113"/>
                  </a:cubicBezTo>
                  <a:close/>
                </a:path>
              </a:pathLst>
            </a:custGeom>
            <a:solidFill>
              <a:srgbClr val="3A3021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-1524" y="-1651"/>
              <a:ext cx="21232622" cy="3967480"/>
            </a:xfrm>
            <a:custGeom>
              <a:avLst/>
              <a:gdLst/>
              <a:ahLst/>
              <a:cxnLst/>
              <a:rect r="r" b="b" t="t" l="l"/>
              <a:pathLst>
                <a:path h="3967480" w="21232622">
                  <a:moveTo>
                    <a:pt x="1524" y="393319"/>
                  </a:moveTo>
                  <a:lnTo>
                    <a:pt x="1524" y="394843"/>
                  </a:lnTo>
                  <a:lnTo>
                    <a:pt x="1524" y="393319"/>
                  </a:lnTo>
                  <a:cubicBezTo>
                    <a:pt x="217805" y="393319"/>
                    <a:pt x="393192" y="217932"/>
                    <a:pt x="393192" y="1651"/>
                  </a:cubicBezTo>
                  <a:cubicBezTo>
                    <a:pt x="393192" y="762"/>
                    <a:pt x="393954" y="127"/>
                    <a:pt x="394716" y="127"/>
                  </a:cubicBezTo>
                  <a:lnTo>
                    <a:pt x="20837905" y="127"/>
                  </a:lnTo>
                  <a:lnTo>
                    <a:pt x="20837905" y="1651"/>
                  </a:lnTo>
                  <a:lnTo>
                    <a:pt x="20836381" y="1651"/>
                  </a:lnTo>
                  <a:lnTo>
                    <a:pt x="20837905" y="1651"/>
                  </a:lnTo>
                  <a:lnTo>
                    <a:pt x="20839429" y="1651"/>
                  </a:lnTo>
                  <a:cubicBezTo>
                    <a:pt x="20839429" y="217932"/>
                    <a:pt x="21014817" y="393319"/>
                    <a:pt x="21231098" y="393319"/>
                  </a:cubicBezTo>
                  <a:cubicBezTo>
                    <a:pt x="21231986" y="393319"/>
                    <a:pt x="21232622" y="394081"/>
                    <a:pt x="21232622" y="394843"/>
                  </a:cubicBezTo>
                  <a:lnTo>
                    <a:pt x="21232622" y="3572764"/>
                  </a:lnTo>
                  <a:cubicBezTo>
                    <a:pt x="21232622" y="3573653"/>
                    <a:pt x="21231859" y="3574288"/>
                    <a:pt x="21231098" y="3574288"/>
                  </a:cubicBezTo>
                  <a:cubicBezTo>
                    <a:pt x="21014817" y="3574288"/>
                    <a:pt x="20839429" y="3749675"/>
                    <a:pt x="20839429" y="3965956"/>
                  </a:cubicBezTo>
                  <a:cubicBezTo>
                    <a:pt x="20839429" y="3966845"/>
                    <a:pt x="20838668" y="3967480"/>
                    <a:pt x="20837905" y="3967480"/>
                  </a:cubicBezTo>
                  <a:lnTo>
                    <a:pt x="394716" y="3967480"/>
                  </a:lnTo>
                  <a:cubicBezTo>
                    <a:pt x="393827" y="3967480"/>
                    <a:pt x="393192" y="3966718"/>
                    <a:pt x="393192" y="3965956"/>
                  </a:cubicBezTo>
                  <a:cubicBezTo>
                    <a:pt x="393192" y="3749675"/>
                    <a:pt x="217805" y="3574288"/>
                    <a:pt x="1524" y="3574288"/>
                  </a:cubicBezTo>
                  <a:cubicBezTo>
                    <a:pt x="635" y="3574288"/>
                    <a:pt x="0" y="3573526"/>
                    <a:pt x="0" y="3572764"/>
                  </a:cubicBezTo>
                  <a:lnTo>
                    <a:pt x="0" y="394843"/>
                  </a:lnTo>
                  <a:cubicBezTo>
                    <a:pt x="0" y="394462"/>
                    <a:pt x="127" y="394081"/>
                    <a:pt x="508" y="393700"/>
                  </a:cubicBezTo>
                  <a:cubicBezTo>
                    <a:pt x="889" y="393319"/>
                    <a:pt x="1270" y="393192"/>
                    <a:pt x="1651" y="393192"/>
                  </a:cubicBezTo>
                  <a:moveTo>
                    <a:pt x="1651" y="396367"/>
                  </a:moveTo>
                  <a:lnTo>
                    <a:pt x="1651" y="394843"/>
                  </a:lnTo>
                  <a:lnTo>
                    <a:pt x="3048" y="394843"/>
                  </a:lnTo>
                  <a:lnTo>
                    <a:pt x="3048" y="3572764"/>
                  </a:lnTo>
                  <a:lnTo>
                    <a:pt x="1524" y="3572764"/>
                  </a:lnTo>
                  <a:lnTo>
                    <a:pt x="1524" y="3571240"/>
                  </a:lnTo>
                  <a:cubicBezTo>
                    <a:pt x="219583" y="3571240"/>
                    <a:pt x="396367" y="3748024"/>
                    <a:pt x="396367" y="3966083"/>
                  </a:cubicBezTo>
                  <a:lnTo>
                    <a:pt x="394843" y="3966083"/>
                  </a:lnTo>
                  <a:lnTo>
                    <a:pt x="394843" y="3964559"/>
                  </a:lnTo>
                  <a:lnTo>
                    <a:pt x="20838032" y="3964559"/>
                  </a:lnTo>
                  <a:lnTo>
                    <a:pt x="20838032" y="3966083"/>
                  </a:lnTo>
                  <a:lnTo>
                    <a:pt x="20836508" y="3966083"/>
                  </a:lnTo>
                  <a:cubicBezTo>
                    <a:pt x="20836508" y="3748024"/>
                    <a:pt x="21013293" y="3571240"/>
                    <a:pt x="21231352" y="3571240"/>
                  </a:cubicBezTo>
                  <a:lnTo>
                    <a:pt x="21231352" y="3572764"/>
                  </a:lnTo>
                  <a:lnTo>
                    <a:pt x="21229828" y="3572764"/>
                  </a:lnTo>
                  <a:lnTo>
                    <a:pt x="21229828" y="394843"/>
                  </a:lnTo>
                  <a:lnTo>
                    <a:pt x="21231352" y="394843"/>
                  </a:lnTo>
                  <a:lnTo>
                    <a:pt x="21231352" y="396367"/>
                  </a:lnTo>
                  <a:cubicBezTo>
                    <a:pt x="21013293" y="396367"/>
                    <a:pt x="20836508" y="219583"/>
                    <a:pt x="20836508" y="1524"/>
                  </a:cubicBezTo>
                  <a:cubicBezTo>
                    <a:pt x="20836508" y="635"/>
                    <a:pt x="20837271" y="0"/>
                    <a:pt x="20838032" y="0"/>
                  </a:cubicBezTo>
                  <a:cubicBezTo>
                    <a:pt x="20838795" y="0"/>
                    <a:pt x="20839556" y="762"/>
                    <a:pt x="20839556" y="1524"/>
                  </a:cubicBezTo>
                  <a:cubicBezTo>
                    <a:pt x="20839556" y="2286"/>
                    <a:pt x="20838795" y="3048"/>
                    <a:pt x="20838032" y="3048"/>
                  </a:cubicBezTo>
                  <a:lnTo>
                    <a:pt x="394716" y="3048"/>
                  </a:lnTo>
                  <a:lnTo>
                    <a:pt x="394716" y="1651"/>
                  </a:lnTo>
                  <a:lnTo>
                    <a:pt x="396240" y="1651"/>
                  </a:lnTo>
                  <a:cubicBezTo>
                    <a:pt x="396367" y="219710"/>
                    <a:pt x="219583" y="396494"/>
                    <a:pt x="1524" y="396494"/>
                  </a:cubicBezTo>
                  <a:close/>
                </a:path>
              </a:pathLst>
            </a:custGeom>
            <a:solidFill>
              <a:srgbClr val="E7C671">
                <a:alpha val="24706"/>
              </a:srgbClr>
            </a:solidFill>
          </p:spPr>
        </p:sp>
      </p:grpSp>
      <p:sp>
        <p:nvSpPr>
          <p:cNvPr name="AutoShape 16" id="16"/>
          <p:cNvSpPr/>
          <p:nvPr/>
        </p:nvSpPr>
        <p:spPr>
          <a:xfrm rot="5364720">
            <a:off x="4344048" y="7723041"/>
            <a:ext cx="1855689" cy="0"/>
          </a:xfrm>
          <a:prstGeom prst="line">
            <a:avLst/>
          </a:prstGeom>
          <a:ln cap="rnd" w="9525">
            <a:solidFill>
              <a:srgbClr val="E7C67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211142" y="480060"/>
            <a:ext cx="16199996" cy="1080135"/>
            <a:chOff x="0" y="0"/>
            <a:chExt cx="21599995" cy="14401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599999" cy="1440180"/>
            </a:xfrm>
            <a:custGeom>
              <a:avLst/>
              <a:gdLst/>
              <a:ahLst/>
              <a:cxnLst/>
              <a:rect r="r" b="b" t="t" l="l"/>
              <a:pathLst>
                <a:path h="1440180" w="21599999">
                  <a:moveTo>
                    <a:pt x="0" y="0"/>
                  </a:moveTo>
                  <a:lnTo>
                    <a:pt x="21599999" y="0"/>
                  </a:lnTo>
                  <a:lnTo>
                    <a:pt x="21599999" y="1440180"/>
                  </a:lnTo>
                  <a:lnTo>
                    <a:pt x="0" y="14401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38" r="0" b="-24223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21599995" cy="1468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E7C671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3-Zone Spatial Directional Mapping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0" y="480060"/>
            <a:ext cx="1027748" cy="1078230"/>
            <a:chOff x="0" y="0"/>
            <a:chExt cx="1370330" cy="1437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70330" cy="1437640"/>
            </a:xfrm>
            <a:custGeom>
              <a:avLst/>
              <a:gdLst/>
              <a:ahLst/>
              <a:cxnLst/>
              <a:rect r="r" b="b" t="t" l="l"/>
              <a:pathLst>
                <a:path h="1437640" w="1370330">
                  <a:moveTo>
                    <a:pt x="767080" y="0"/>
                  </a:moveTo>
                  <a:lnTo>
                    <a:pt x="0" y="0"/>
                  </a:lnTo>
                  <a:lnTo>
                    <a:pt x="0" y="1437640"/>
                  </a:lnTo>
                  <a:lnTo>
                    <a:pt x="767080" y="1437640"/>
                  </a:lnTo>
                  <a:lnTo>
                    <a:pt x="1370330" y="718820"/>
                  </a:lnTo>
                  <a:lnTo>
                    <a:pt x="767080" y="0"/>
                  </a:lnTo>
                  <a:close/>
                </a:path>
              </a:pathLst>
            </a:custGeom>
            <a:solidFill>
              <a:srgbClr val="E7C671"/>
            </a:solid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10988190" y="2713154"/>
            <a:ext cx="5992643" cy="2270729"/>
          </a:xfrm>
          <a:custGeom>
            <a:avLst/>
            <a:gdLst/>
            <a:ahLst/>
            <a:cxnLst/>
            <a:rect r="r" b="b" t="t" l="l"/>
            <a:pathLst>
              <a:path h="2270729" w="5992643">
                <a:moveTo>
                  <a:pt x="0" y="0"/>
                </a:moveTo>
                <a:lnTo>
                  <a:pt x="5992643" y="0"/>
                </a:lnTo>
                <a:lnTo>
                  <a:pt x="5992643" y="2270730"/>
                </a:lnTo>
                <a:lnTo>
                  <a:pt x="0" y="2270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045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560630" y="3378989"/>
            <a:ext cx="3260080" cy="50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b="true" sz="3000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Zone Division Logic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74683" y="7221169"/>
            <a:ext cx="2231975" cy="50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b="true" sz="3000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Alert Priority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579543" y="6657133"/>
            <a:ext cx="11091325" cy="178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6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lert Priority:</a:t>
            </a:r>
          </a:p>
          <a:p>
            <a:pPr algn="l">
              <a:lnSpc>
                <a:spcPts val="3036"/>
              </a:lnSpc>
            </a:pPr>
          </a:p>
          <a:p>
            <a:pPr algn="l" marL="496574" indent="-248287" lvl="1">
              <a:lnSpc>
                <a:spcPts val="4301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Center → High (danger)  </a:t>
            </a:r>
          </a:p>
          <a:p>
            <a:pPr algn="l" marL="496574" indent="-248287" lvl="1">
              <a:lnSpc>
                <a:spcPts val="4301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 / Right → Medium 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795750" y="2465504"/>
            <a:ext cx="4815443" cy="2147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1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2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amera frame is divided into 3 zones:</a:t>
            </a:r>
          </a:p>
          <a:p>
            <a:pPr algn="l" marL="496571" indent="-248285" lvl="1">
              <a:lnSpc>
                <a:spcPts val="4301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 Zone  </a:t>
            </a:r>
          </a:p>
          <a:p>
            <a:pPr algn="l" marL="496571" indent="-248285" lvl="1">
              <a:lnSpc>
                <a:spcPts val="4301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Center Zone  </a:t>
            </a:r>
          </a:p>
          <a:p>
            <a:pPr algn="l" marL="496571" indent="-248285" lvl="1">
              <a:lnSpc>
                <a:spcPts val="4301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 Zone  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0978665" y="6591968"/>
            <a:ext cx="5992643" cy="2270729"/>
          </a:xfrm>
          <a:custGeom>
            <a:avLst/>
            <a:gdLst/>
            <a:ahLst/>
            <a:cxnLst/>
            <a:rect r="r" b="b" t="t" l="l"/>
            <a:pathLst>
              <a:path h="2270729" w="5992643">
                <a:moveTo>
                  <a:pt x="0" y="0"/>
                </a:moveTo>
                <a:lnTo>
                  <a:pt x="5992643" y="0"/>
                </a:lnTo>
                <a:lnTo>
                  <a:pt x="5992643" y="2270729"/>
                </a:lnTo>
                <a:lnTo>
                  <a:pt x="0" y="22707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045" b="0"/>
            </a:stretch>
          </a:blipFill>
        </p:spPr>
      </p:sp>
    </p:spTree>
  </p:cSld>
  <p:clrMapOvr>
    <a:masterClrMapping/>
  </p:clrMapOvr>
  <p:transition spd="fast">
    <p:cover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46131" y="3738753"/>
            <a:ext cx="13195738" cy="1295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68"/>
              </a:lnSpc>
            </a:pPr>
            <a:r>
              <a:rPr lang="en-US" sz="7200" spc="599">
                <a:solidFill>
                  <a:srgbClr val="E7C6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</a:t>
            </a:r>
            <a:r>
              <a:rPr lang="en-US" sz="7200" spc="599">
                <a:solidFill>
                  <a:srgbClr val="E7C6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ults &amp; Feedback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86191" y="904875"/>
            <a:ext cx="3515618" cy="1214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04"/>
              </a:lnSpc>
              <a:spcBef>
                <a:spcPct val="0"/>
              </a:spcBef>
            </a:pPr>
            <a:r>
              <a:rPr lang="en-US" b="true" sz="7200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PART 06</a:t>
            </a:r>
          </a:p>
        </p:txBody>
      </p:sp>
    </p:spTree>
  </p:cSld>
  <p:clrMapOvr>
    <a:masterClrMapping/>
  </p:clrMapOvr>
  <p:transition spd="fast">
    <p:cover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3339954"/>
            <a:ext cx="11791788" cy="5297725"/>
            <a:chOff x="0" y="0"/>
            <a:chExt cx="17093984" cy="76798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093946" cy="7679882"/>
            </a:xfrm>
            <a:custGeom>
              <a:avLst/>
              <a:gdLst/>
              <a:ahLst/>
              <a:cxnLst/>
              <a:rect r="r" b="b" t="t" l="l"/>
              <a:pathLst>
                <a:path h="7679882" w="17093946">
                  <a:moveTo>
                    <a:pt x="0" y="0"/>
                  </a:moveTo>
                  <a:lnTo>
                    <a:pt x="17093946" y="0"/>
                  </a:lnTo>
                  <a:lnTo>
                    <a:pt x="17093946" y="7679882"/>
                  </a:lnTo>
                  <a:lnTo>
                    <a:pt x="0" y="7679882"/>
                  </a:lnTo>
                  <a:close/>
                </a:path>
              </a:pathLst>
            </a:custGeom>
            <a:solidFill>
              <a:srgbClr val="3A3021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640757" y="4879486"/>
            <a:ext cx="9539926" cy="178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    → short vibrations 📳 + voice🔊 guidance</a:t>
            </a:r>
          </a:p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  → short vibrations 📳 + voice🔊 guidance</a:t>
            </a:r>
          </a:p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Center → Continuous vibration 📳 + voice🔊  guidance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480060"/>
            <a:ext cx="1027748" cy="1078230"/>
            <a:chOff x="0" y="0"/>
            <a:chExt cx="1370330" cy="1437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70330" cy="1437640"/>
            </a:xfrm>
            <a:custGeom>
              <a:avLst/>
              <a:gdLst/>
              <a:ahLst/>
              <a:cxnLst/>
              <a:rect r="r" b="b" t="t" l="l"/>
              <a:pathLst>
                <a:path h="1437640" w="1370330">
                  <a:moveTo>
                    <a:pt x="767080" y="0"/>
                  </a:moveTo>
                  <a:lnTo>
                    <a:pt x="0" y="0"/>
                  </a:lnTo>
                  <a:lnTo>
                    <a:pt x="0" y="1437640"/>
                  </a:lnTo>
                  <a:lnTo>
                    <a:pt x="767080" y="1437640"/>
                  </a:lnTo>
                  <a:lnTo>
                    <a:pt x="1370330" y="718820"/>
                  </a:lnTo>
                  <a:lnTo>
                    <a:pt x="767080" y="0"/>
                  </a:lnTo>
                  <a:close/>
                </a:path>
              </a:pathLst>
            </a:custGeom>
            <a:solidFill>
              <a:srgbClr val="E7C67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71575" y="479108"/>
            <a:ext cx="16199996" cy="1080135"/>
            <a:chOff x="0" y="0"/>
            <a:chExt cx="21599995" cy="14401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599999" cy="1440180"/>
            </a:xfrm>
            <a:custGeom>
              <a:avLst/>
              <a:gdLst/>
              <a:ahLst/>
              <a:cxnLst/>
              <a:rect r="r" b="b" t="t" l="l"/>
              <a:pathLst>
                <a:path h="1440180" w="21599999">
                  <a:moveTo>
                    <a:pt x="0" y="0"/>
                  </a:moveTo>
                  <a:lnTo>
                    <a:pt x="21599999" y="0"/>
                  </a:lnTo>
                  <a:lnTo>
                    <a:pt x="21599999" y="1440180"/>
                  </a:lnTo>
                  <a:lnTo>
                    <a:pt x="0" y="14401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38" r="0" b="-24223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1599995" cy="1468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E7C671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Multi-Modal Feedback Mechanism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842643" y="4189393"/>
            <a:ext cx="3779341" cy="50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b="true" sz="3000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Haptic and Audio Cues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2990772" y="3339954"/>
            <a:ext cx="2905289" cy="2621048"/>
          </a:xfrm>
          <a:custGeom>
            <a:avLst/>
            <a:gdLst/>
            <a:ahLst/>
            <a:cxnLst/>
            <a:rect r="r" b="b" t="t" l="l"/>
            <a:pathLst>
              <a:path h="2621048" w="2905289">
                <a:moveTo>
                  <a:pt x="0" y="0"/>
                </a:moveTo>
                <a:lnTo>
                  <a:pt x="2905289" y="0"/>
                </a:lnTo>
                <a:lnTo>
                  <a:pt x="2905289" y="2621048"/>
                </a:lnTo>
                <a:lnTo>
                  <a:pt x="0" y="26210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422" r="0" b="-5422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990772" y="5961002"/>
            <a:ext cx="2905289" cy="2676677"/>
          </a:xfrm>
          <a:custGeom>
            <a:avLst/>
            <a:gdLst/>
            <a:ahLst/>
            <a:cxnLst/>
            <a:rect r="r" b="b" t="t" l="l"/>
            <a:pathLst>
              <a:path h="2676677" w="2905289">
                <a:moveTo>
                  <a:pt x="0" y="0"/>
                </a:moveTo>
                <a:lnTo>
                  <a:pt x="2905289" y="0"/>
                </a:lnTo>
                <a:lnTo>
                  <a:pt x="2905289" y="2676678"/>
                </a:lnTo>
                <a:lnTo>
                  <a:pt x="0" y="26766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270" r="0" b="-4270"/>
            </a:stretch>
          </a:blipFill>
        </p:spPr>
      </p:sp>
    </p:spTree>
  </p:cSld>
  <p:clrMapOvr>
    <a:masterClrMapping/>
  </p:clrMapOvr>
  <p:transition spd="fast">
    <p:cover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705070" y="7591425"/>
            <a:ext cx="603885" cy="570548"/>
            <a:chOff x="0" y="0"/>
            <a:chExt cx="805180" cy="7607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4" y="12"/>
              <a:ext cx="805134" cy="760711"/>
            </a:xfrm>
            <a:custGeom>
              <a:avLst/>
              <a:gdLst/>
              <a:ahLst/>
              <a:cxnLst/>
              <a:rect r="r" b="b" t="t" l="l"/>
              <a:pathLst>
                <a:path h="760711" w="805134">
                  <a:moveTo>
                    <a:pt x="450288" y="496"/>
                  </a:moveTo>
                  <a:cubicBezTo>
                    <a:pt x="507819" y="-2298"/>
                    <a:pt x="568906" y="6592"/>
                    <a:pt x="632152" y="29960"/>
                  </a:cubicBezTo>
                  <a:cubicBezTo>
                    <a:pt x="1033853" y="180074"/>
                    <a:pt x="673300" y="902831"/>
                    <a:pt x="189557" y="735826"/>
                  </a:cubicBezTo>
                  <a:cubicBezTo>
                    <a:pt x="-186236" y="606032"/>
                    <a:pt x="47190" y="19673"/>
                    <a:pt x="450288" y="496"/>
                  </a:cubicBezTo>
                  <a:close/>
                </a:path>
              </a:pathLst>
            </a:custGeom>
            <a:solidFill>
              <a:srgbClr val="E7C671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7616488" y="7577138"/>
            <a:ext cx="632460" cy="599122"/>
          </a:xfrm>
          <a:custGeom>
            <a:avLst/>
            <a:gdLst/>
            <a:ahLst/>
            <a:cxnLst/>
            <a:rect r="r" b="b" t="t" l="l"/>
            <a:pathLst>
              <a:path h="599122" w="632460">
                <a:moveTo>
                  <a:pt x="0" y="0"/>
                </a:moveTo>
                <a:lnTo>
                  <a:pt x="632460" y="0"/>
                </a:lnTo>
                <a:lnTo>
                  <a:pt x="632460" y="599122"/>
                </a:lnTo>
                <a:lnTo>
                  <a:pt x="0" y="5991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480060"/>
            <a:ext cx="1027748" cy="1078230"/>
            <a:chOff x="0" y="0"/>
            <a:chExt cx="1370330" cy="1437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70330" cy="1437640"/>
            </a:xfrm>
            <a:custGeom>
              <a:avLst/>
              <a:gdLst/>
              <a:ahLst/>
              <a:cxnLst/>
              <a:rect r="r" b="b" t="t" l="l"/>
              <a:pathLst>
                <a:path h="1437640" w="1370330">
                  <a:moveTo>
                    <a:pt x="767080" y="0"/>
                  </a:moveTo>
                  <a:lnTo>
                    <a:pt x="0" y="0"/>
                  </a:lnTo>
                  <a:lnTo>
                    <a:pt x="0" y="1437640"/>
                  </a:lnTo>
                  <a:lnTo>
                    <a:pt x="767080" y="1437640"/>
                  </a:lnTo>
                  <a:lnTo>
                    <a:pt x="1370330" y="718820"/>
                  </a:lnTo>
                  <a:lnTo>
                    <a:pt x="767080" y="0"/>
                  </a:lnTo>
                  <a:close/>
                </a:path>
              </a:pathLst>
            </a:custGeom>
            <a:solidFill>
              <a:srgbClr val="E7C671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8322647" y="3106277"/>
            <a:ext cx="8936653" cy="4074446"/>
          </a:xfrm>
          <a:custGeom>
            <a:avLst/>
            <a:gdLst/>
            <a:ahLst/>
            <a:cxnLst/>
            <a:rect r="r" b="b" t="t" l="l"/>
            <a:pathLst>
              <a:path h="4074446" w="8936653">
                <a:moveTo>
                  <a:pt x="0" y="0"/>
                </a:moveTo>
                <a:lnTo>
                  <a:pt x="8936653" y="0"/>
                </a:lnTo>
                <a:lnTo>
                  <a:pt x="8936653" y="4074446"/>
                </a:lnTo>
                <a:lnTo>
                  <a:pt x="0" y="40744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9537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65283" y="3846195"/>
            <a:ext cx="7379656" cy="2394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Latency: </a:t>
            </a:r>
            <a:r>
              <a:rPr lang="en-US" b="true" sz="24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35–45 ms</a:t>
            </a: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per frame  </a:t>
            </a:r>
          </a:p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Speed: </a:t>
            </a:r>
            <a:r>
              <a:rPr lang="en-US" b="true" sz="24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20–25 FPS</a:t>
            </a: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(real-time)  </a:t>
            </a:r>
          </a:p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size: </a:t>
            </a:r>
            <a:r>
              <a:rPr lang="en-US" b="true" sz="24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6–8</a:t>
            </a: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US" b="true" sz="24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MB</a:t>
            </a: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b="true" sz="24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INT8</a:t>
            </a: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optimized)  </a:t>
            </a:r>
          </a:p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usage: </a:t>
            </a:r>
            <a:r>
              <a:rPr lang="en-US" b="true" sz="24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1.2W – 1.5W</a:t>
            </a: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03558" y="2352053"/>
            <a:ext cx="3458617" cy="50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b="true" sz="3000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Performance Metrics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18356" y="569976"/>
            <a:ext cx="8888909" cy="812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36"/>
              </a:lnSpc>
              <a:spcBef>
                <a:spcPct val="0"/>
              </a:spcBef>
            </a:pPr>
            <a:r>
              <a:rPr lang="en-US" b="true" sz="4800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Experimental Results and Metrics</a:t>
            </a:r>
          </a:p>
        </p:txBody>
      </p:sp>
    </p:spTree>
  </p:cSld>
  <p:clrMapOvr>
    <a:masterClrMapping/>
  </p:clrMapOvr>
  <p:transition spd="fast">
    <p:cover dir="rd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32463" y="3738753"/>
            <a:ext cx="11223075" cy="1295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68"/>
              </a:lnSpc>
            </a:pPr>
            <a:r>
              <a:rPr lang="en-US" sz="7200" spc="599">
                <a:solidFill>
                  <a:srgbClr val="E7C6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&amp; Future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12893" y="895350"/>
            <a:ext cx="3662214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00"/>
              </a:lnSpc>
              <a:spcBef>
                <a:spcPct val="0"/>
              </a:spcBef>
            </a:pPr>
            <a:r>
              <a:rPr lang="en-US" b="true" sz="7500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PART 07</a:t>
            </a:r>
          </a:p>
        </p:txBody>
      </p:sp>
    </p:spTree>
  </p:cSld>
  <p:clrMapOvr>
    <a:masterClrMapping/>
  </p:clrMapOvr>
  <p:transition spd="fast">
    <p:cover dir="l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7697520">
            <a:off x="11270009" y="4607824"/>
            <a:ext cx="6835064" cy="3458356"/>
            <a:chOff x="0" y="0"/>
            <a:chExt cx="9113418" cy="46111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9" y="38"/>
              <a:ext cx="9113374" cy="4601680"/>
            </a:xfrm>
            <a:custGeom>
              <a:avLst/>
              <a:gdLst/>
              <a:ahLst/>
              <a:cxnLst/>
              <a:rect r="r" b="b" t="t" l="l"/>
              <a:pathLst>
                <a:path h="4601680" w="9113374">
                  <a:moveTo>
                    <a:pt x="235" y="4601680"/>
                  </a:moveTo>
                  <a:cubicBezTo>
                    <a:pt x="-25038" y="2085175"/>
                    <a:pt x="1994770" y="25362"/>
                    <a:pt x="4510132" y="216"/>
                  </a:cubicBezTo>
                  <a:cubicBezTo>
                    <a:pt x="4510767" y="216"/>
                    <a:pt x="4511402" y="216"/>
                    <a:pt x="4512037" y="216"/>
                  </a:cubicBezTo>
                  <a:cubicBezTo>
                    <a:pt x="7028034" y="-24041"/>
                    <a:pt x="9089244" y="1995767"/>
                    <a:pt x="9113374" y="4511891"/>
                  </a:cubicBezTo>
                  <a:lnTo>
                    <a:pt x="9094324" y="4512018"/>
                  </a:lnTo>
                  <a:cubicBezTo>
                    <a:pt x="9070194" y="2006435"/>
                    <a:pt x="7017747" y="-4864"/>
                    <a:pt x="4512037" y="19266"/>
                  </a:cubicBezTo>
                  <a:lnTo>
                    <a:pt x="4511910" y="9741"/>
                  </a:lnTo>
                  <a:lnTo>
                    <a:pt x="4512037" y="19266"/>
                  </a:lnTo>
                  <a:cubicBezTo>
                    <a:pt x="4511402" y="19266"/>
                    <a:pt x="4510767" y="19266"/>
                    <a:pt x="4510259" y="19266"/>
                  </a:cubicBezTo>
                  <a:cubicBezTo>
                    <a:pt x="2005438" y="44285"/>
                    <a:pt x="-5861" y="2095462"/>
                    <a:pt x="19285" y="4601426"/>
                  </a:cubicBezTo>
                  <a:close/>
                </a:path>
              </a:pathLst>
            </a:custGeom>
            <a:solidFill>
              <a:srgbClr val="E7C671"/>
            </a:solidFill>
          </p:spPr>
        </p:sp>
      </p:grpSp>
      <p:grpSp>
        <p:nvGrpSpPr>
          <p:cNvPr name="Group 5" id="5"/>
          <p:cNvGrpSpPr/>
          <p:nvPr/>
        </p:nvGrpSpPr>
        <p:grpSpPr>
          <a:xfrm rot="-1194540">
            <a:off x="11041971" y="7791307"/>
            <a:ext cx="361398" cy="361398"/>
            <a:chOff x="0" y="0"/>
            <a:chExt cx="481863" cy="48186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838" cy="481838"/>
            </a:xfrm>
            <a:custGeom>
              <a:avLst/>
              <a:gdLst/>
              <a:ahLst/>
              <a:cxnLst/>
              <a:rect r="r" b="b" t="t" l="l"/>
              <a:pathLst>
                <a:path h="481838" w="481838">
                  <a:moveTo>
                    <a:pt x="0" y="240919"/>
                  </a:moveTo>
                  <a:cubicBezTo>
                    <a:pt x="0" y="107823"/>
                    <a:pt x="107823" y="0"/>
                    <a:pt x="240919" y="0"/>
                  </a:cubicBezTo>
                  <a:cubicBezTo>
                    <a:pt x="374015" y="0"/>
                    <a:pt x="481838" y="107823"/>
                    <a:pt x="481838" y="240919"/>
                  </a:cubicBezTo>
                  <a:cubicBezTo>
                    <a:pt x="481838" y="374015"/>
                    <a:pt x="374015" y="481838"/>
                    <a:pt x="240919" y="481838"/>
                  </a:cubicBezTo>
                  <a:cubicBezTo>
                    <a:pt x="107823" y="481838"/>
                    <a:pt x="0" y="374015"/>
                    <a:pt x="0" y="240919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9F1DC">
                    <a:alpha val="100000"/>
                  </a:srgbClr>
                </a:gs>
                <a:gs pos="50000">
                  <a:srgbClr val="E7C671">
                    <a:alpha val="100000"/>
                  </a:srgbClr>
                </a:gs>
                <a:gs pos="100000">
                  <a:srgbClr val="E0B445">
                    <a:alpha val="100000"/>
                  </a:srgbClr>
                </a:gs>
              </a:gsLst>
              <a:lin ang="6594516"/>
            </a:gradFill>
          </p:spPr>
        </p:sp>
      </p:grpSp>
      <p:grpSp>
        <p:nvGrpSpPr>
          <p:cNvPr name="Group 7" id="7"/>
          <p:cNvGrpSpPr/>
          <p:nvPr/>
        </p:nvGrpSpPr>
        <p:grpSpPr>
          <a:xfrm rot="-1194540">
            <a:off x="15345289" y="2483806"/>
            <a:ext cx="251231" cy="251231"/>
            <a:chOff x="0" y="0"/>
            <a:chExt cx="334975" cy="3349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5026" cy="335026"/>
            </a:xfrm>
            <a:custGeom>
              <a:avLst/>
              <a:gdLst/>
              <a:ahLst/>
              <a:cxnLst/>
              <a:rect r="r" b="b" t="t" l="l"/>
              <a:pathLst>
                <a:path h="335026" w="335026">
                  <a:moveTo>
                    <a:pt x="0" y="167513"/>
                  </a:moveTo>
                  <a:cubicBezTo>
                    <a:pt x="0" y="74930"/>
                    <a:pt x="74930" y="0"/>
                    <a:pt x="167513" y="0"/>
                  </a:cubicBezTo>
                  <a:cubicBezTo>
                    <a:pt x="260096" y="0"/>
                    <a:pt x="335026" y="74930"/>
                    <a:pt x="335026" y="167513"/>
                  </a:cubicBezTo>
                  <a:cubicBezTo>
                    <a:pt x="335026" y="260096"/>
                    <a:pt x="260096" y="335026"/>
                    <a:pt x="167513" y="335026"/>
                  </a:cubicBezTo>
                  <a:cubicBezTo>
                    <a:pt x="74930" y="335026"/>
                    <a:pt x="0" y="259969"/>
                    <a:pt x="0" y="167513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9F1DC">
                    <a:alpha val="100000"/>
                  </a:srgbClr>
                </a:gs>
                <a:gs pos="50000">
                  <a:srgbClr val="E7C671">
                    <a:alpha val="100000"/>
                  </a:srgbClr>
                </a:gs>
                <a:gs pos="100000">
                  <a:srgbClr val="E0B445">
                    <a:alpha val="100000"/>
                  </a:srgbClr>
                </a:gs>
              </a:gsLst>
              <a:lin ang="6594516"/>
            </a:gra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251718" y="1150630"/>
            <a:ext cx="8321907" cy="8321907"/>
            <a:chOff x="0" y="0"/>
            <a:chExt cx="11095876" cy="110958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95863" cy="11095990"/>
            </a:xfrm>
            <a:custGeom>
              <a:avLst/>
              <a:gdLst/>
              <a:ahLst/>
              <a:cxnLst/>
              <a:rect r="r" b="b" t="t" l="l"/>
              <a:pathLst>
                <a:path h="11095990" w="11095863">
                  <a:moveTo>
                    <a:pt x="0" y="5547995"/>
                  </a:moveTo>
                  <a:cubicBezTo>
                    <a:pt x="0" y="2483866"/>
                    <a:pt x="2483866" y="0"/>
                    <a:pt x="5547995" y="0"/>
                  </a:cubicBezTo>
                  <a:lnTo>
                    <a:pt x="5547995" y="9525"/>
                  </a:lnTo>
                  <a:lnTo>
                    <a:pt x="5547995" y="0"/>
                  </a:lnTo>
                  <a:cubicBezTo>
                    <a:pt x="8611997" y="0"/>
                    <a:pt x="11095863" y="2483866"/>
                    <a:pt x="11095863" y="5547995"/>
                  </a:cubicBezTo>
                  <a:lnTo>
                    <a:pt x="11086338" y="5547995"/>
                  </a:lnTo>
                  <a:lnTo>
                    <a:pt x="11095863" y="5547995"/>
                  </a:lnTo>
                  <a:cubicBezTo>
                    <a:pt x="11095863" y="8611997"/>
                    <a:pt x="8611997" y="11095990"/>
                    <a:pt x="5547868" y="11095990"/>
                  </a:cubicBezTo>
                  <a:lnTo>
                    <a:pt x="5547868" y="11086465"/>
                  </a:lnTo>
                  <a:lnTo>
                    <a:pt x="5547868" y="11095990"/>
                  </a:lnTo>
                  <a:cubicBezTo>
                    <a:pt x="2483866" y="11095863"/>
                    <a:pt x="0" y="8611997"/>
                    <a:pt x="0" y="5547995"/>
                  </a:cubicBezTo>
                  <a:lnTo>
                    <a:pt x="9525" y="5547995"/>
                  </a:lnTo>
                  <a:lnTo>
                    <a:pt x="19050" y="5547995"/>
                  </a:lnTo>
                  <a:lnTo>
                    <a:pt x="9525" y="5547995"/>
                  </a:lnTo>
                  <a:lnTo>
                    <a:pt x="0" y="5547995"/>
                  </a:lnTo>
                  <a:moveTo>
                    <a:pt x="19050" y="5547995"/>
                  </a:moveTo>
                  <a:cubicBezTo>
                    <a:pt x="19050" y="5553202"/>
                    <a:pt x="14732" y="5557520"/>
                    <a:pt x="9525" y="5557520"/>
                  </a:cubicBezTo>
                  <a:cubicBezTo>
                    <a:pt x="4318" y="5557520"/>
                    <a:pt x="0" y="5553202"/>
                    <a:pt x="0" y="5547995"/>
                  </a:cubicBezTo>
                  <a:cubicBezTo>
                    <a:pt x="0" y="5542788"/>
                    <a:pt x="4318" y="5538470"/>
                    <a:pt x="9525" y="5538470"/>
                  </a:cubicBezTo>
                  <a:cubicBezTo>
                    <a:pt x="14732" y="5538470"/>
                    <a:pt x="19050" y="5542788"/>
                    <a:pt x="19050" y="5547995"/>
                  </a:cubicBezTo>
                  <a:cubicBezTo>
                    <a:pt x="19050" y="8601456"/>
                    <a:pt x="2494407" y="11076940"/>
                    <a:pt x="5547995" y="11076940"/>
                  </a:cubicBezTo>
                  <a:cubicBezTo>
                    <a:pt x="8601583" y="11076940"/>
                    <a:pt x="11076813" y="8601456"/>
                    <a:pt x="11076813" y="5547995"/>
                  </a:cubicBezTo>
                  <a:cubicBezTo>
                    <a:pt x="11076813" y="2494534"/>
                    <a:pt x="8601456" y="19050"/>
                    <a:pt x="5547995" y="19050"/>
                  </a:cubicBezTo>
                  <a:lnTo>
                    <a:pt x="5547995" y="9525"/>
                  </a:lnTo>
                  <a:lnTo>
                    <a:pt x="5547995" y="19050"/>
                  </a:lnTo>
                  <a:cubicBezTo>
                    <a:pt x="2494407" y="19050"/>
                    <a:pt x="19050" y="2494407"/>
                    <a:pt x="19050" y="5547995"/>
                  </a:cubicBezTo>
                  <a:close/>
                </a:path>
              </a:pathLst>
            </a:custGeom>
            <a:solidFill>
              <a:srgbClr val="E7C67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157896" y="8203435"/>
            <a:ext cx="251231" cy="251231"/>
            <a:chOff x="0" y="0"/>
            <a:chExt cx="334975" cy="3349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5026" cy="335026"/>
            </a:xfrm>
            <a:custGeom>
              <a:avLst/>
              <a:gdLst/>
              <a:ahLst/>
              <a:cxnLst/>
              <a:rect r="r" b="b" t="t" l="l"/>
              <a:pathLst>
                <a:path h="335026" w="335026">
                  <a:moveTo>
                    <a:pt x="0" y="167513"/>
                  </a:moveTo>
                  <a:cubicBezTo>
                    <a:pt x="0" y="74930"/>
                    <a:pt x="74930" y="0"/>
                    <a:pt x="167513" y="0"/>
                  </a:cubicBezTo>
                  <a:cubicBezTo>
                    <a:pt x="260096" y="0"/>
                    <a:pt x="335026" y="74930"/>
                    <a:pt x="335026" y="167513"/>
                  </a:cubicBezTo>
                  <a:cubicBezTo>
                    <a:pt x="335026" y="260096"/>
                    <a:pt x="260096" y="335026"/>
                    <a:pt x="167513" y="335026"/>
                  </a:cubicBezTo>
                  <a:cubicBezTo>
                    <a:pt x="74930" y="335026"/>
                    <a:pt x="0" y="259969"/>
                    <a:pt x="0" y="167513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9F1DC">
                    <a:alpha val="100000"/>
                  </a:srgbClr>
                </a:gs>
                <a:gs pos="50000">
                  <a:srgbClr val="E7C671">
                    <a:alpha val="100000"/>
                  </a:srgbClr>
                </a:gs>
                <a:gs pos="100000">
                  <a:srgbClr val="E0B445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0" y="480060"/>
            <a:ext cx="1027748" cy="1078230"/>
            <a:chOff x="0" y="0"/>
            <a:chExt cx="1370330" cy="1437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70330" cy="1437640"/>
            </a:xfrm>
            <a:custGeom>
              <a:avLst/>
              <a:gdLst/>
              <a:ahLst/>
              <a:cxnLst/>
              <a:rect r="r" b="b" t="t" l="l"/>
              <a:pathLst>
                <a:path h="1437640" w="1370330">
                  <a:moveTo>
                    <a:pt x="767080" y="0"/>
                  </a:moveTo>
                  <a:lnTo>
                    <a:pt x="0" y="0"/>
                  </a:lnTo>
                  <a:lnTo>
                    <a:pt x="0" y="1437640"/>
                  </a:lnTo>
                  <a:lnTo>
                    <a:pt x="767080" y="1437640"/>
                  </a:lnTo>
                  <a:lnTo>
                    <a:pt x="1370330" y="718820"/>
                  </a:lnTo>
                  <a:lnTo>
                    <a:pt x="767080" y="0"/>
                  </a:lnTo>
                  <a:close/>
                </a:path>
              </a:pathLst>
            </a:custGeom>
            <a:solidFill>
              <a:srgbClr val="E7C67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807578" y="2245919"/>
            <a:ext cx="873300" cy="873300"/>
            <a:chOff x="0" y="0"/>
            <a:chExt cx="1164400" cy="116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64463" cy="1164463"/>
            </a:xfrm>
            <a:custGeom>
              <a:avLst/>
              <a:gdLst/>
              <a:ahLst/>
              <a:cxnLst/>
              <a:rect r="r" b="b" t="t" l="l"/>
              <a:pathLst>
                <a:path h="1164463" w="1164463">
                  <a:moveTo>
                    <a:pt x="0" y="582168"/>
                  </a:moveTo>
                  <a:cubicBezTo>
                    <a:pt x="0" y="260604"/>
                    <a:pt x="260604" y="0"/>
                    <a:pt x="582168" y="0"/>
                  </a:cubicBezTo>
                  <a:cubicBezTo>
                    <a:pt x="903732" y="0"/>
                    <a:pt x="1164463" y="260604"/>
                    <a:pt x="1164463" y="582168"/>
                  </a:cubicBezTo>
                  <a:cubicBezTo>
                    <a:pt x="1164463" y="903732"/>
                    <a:pt x="903732" y="1164463"/>
                    <a:pt x="582168" y="1164463"/>
                  </a:cubicBezTo>
                  <a:cubicBezTo>
                    <a:pt x="260604" y="1164463"/>
                    <a:pt x="0" y="903732"/>
                    <a:pt x="0" y="582168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9F1DC">
                    <a:alpha val="100000"/>
                  </a:srgbClr>
                </a:gs>
                <a:gs pos="50000">
                  <a:srgbClr val="E7C671">
                    <a:alpha val="100000"/>
                  </a:srgbClr>
                </a:gs>
                <a:gs pos="100000">
                  <a:srgbClr val="E0B445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9408881" y="3119218"/>
            <a:ext cx="8007582" cy="4411755"/>
          </a:xfrm>
          <a:custGeom>
            <a:avLst/>
            <a:gdLst/>
            <a:ahLst/>
            <a:cxnLst/>
            <a:rect r="r" b="b" t="t" l="l"/>
            <a:pathLst>
              <a:path h="4411755" w="8007582">
                <a:moveTo>
                  <a:pt x="0" y="0"/>
                </a:moveTo>
                <a:lnTo>
                  <a:pt x="8007582" y="0"/>
                </a:lnTo>
                <a:lnTo>
                  <a:pt x="8007582" y="4411755"/>
                </a:lnTo>
                <a:lnTo>
                  <a:pt x="0" y="44117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323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3781860"/>
            <a:ext cx="7712860" cy="2729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78"/>
              </a:lnSpc>
            </a:pPr>
            <a:r>
              <a:rPr lang="en-US" sz="243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“Our system uses Edge AI with INT8 optimization to enable real-time, low-latency obstacle detection, with the goal of creating a safer environment for visually impaired users to navigate independently.”</a:t>
            </a:r>
          </a:p>
          <a:p>
            <a:pPr algn="just">
              <a:lnSpc>
                <a:spcPts val="4378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680974" y="314325"/>
            <a:ext cx="7734002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00"/>
              </a:lnSpc>
              <a:spcBef>
                <a:spcPct val="0"/>
              </a:spcBef>
            </a:pPr>
            <a:r>
              <a:rPr lang="en-US" b="true" sz="7500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Conclusion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50513" y="2751255"/>
            <a:ext cx="3756868" cy="50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b="true" sz="3000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Success Demonstration</a:t>
            </a:r>
          </a:p>
        </p:txBody>
      </p:sp>
    </p:spTree>
  </p:cSld>
  <p:clrMapOvr>
    <a:masterClrMapping/>
  </p:clrMapOvr>
  <p:transition spd="fast">
    <p:fade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31557" y="1928812"/>
            <a:ext cx="12318165" cy="7817168"/>
            <a:chOff x="0" y="0"/>
            <a:chExt cx="16424219" cy="104228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424219" cy="10422890"/>
            </a:xfrm>
            <a:custGeom>
              <a:avLst/>
              <a:gdLst/>
              <a:ahLst/>
              <a:cxnLst/>
              <a:rect r="r" b="b" t="t" l="l"/>
              <a:pathLst>
                <a:path h="10422890" w="16424219">
                  <a:moveTo>
                    <a:pt x="0" y="0"/>
                  </a:moveTo>
                  <a:lnTo>
                    <a:pt x="16424219" y="0"/>
                  </a:lnTo>
                  <a:lnTo>
                    <a:pt x="16424219" y="10422890"/>
                  </a:lnTo>
                  <a:lnTo>
                    <a:pt x="0" y="10422890"/>
                  </a:lnTo>
                  <a:close/>
                </a:path>
              </a:pathLst>
            </a:custGeom>
            <a:solidFill>
              <a:srgbClr val="3A302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772622" y="3306301"/>
            <a:ext cx="7371378" cy="809625"/>
            <a:chOff x="0" y="0"/>
            <a:chExt cx="9828505" cy="1079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828499" cy="1079500"/>
            </a:xfrm>
            <a:custGeom>
              <a:avLst/>
              <a:gdLst/>
              <a:ahLst/>
              <a:cxnLst/>
              <a:rect r="r" b="b" t="t" l="l"/>
              <a:pathLst>
                <a:path h="1079500" w="9828499">
                  <a:moveTo>
                    <a:pt x="0" y="0"/>
                  </a:moveTo>
                  <a:lnTo>
                    <a:pt x="9828499" y="0"/>
                  </a:lnTo>
                  <a:lnTo>
                    <a:pt x="9828499" y="1079500"/>
                  </a:lnTo>
                  <a:lnTo>
                    <a:pt x="0" y="1079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405" r="0" b="-12740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9828505" cy="1136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000" b="true">
                  <a:solidFill>
                    <a:srgbClr val="E7C671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Sensor Integration and Connectivity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480060"/>
            <a:ext cx="1027748" cy="1078230"/>
            <a:chOff x="0" y="0"/>
            <a:chExt cx="1370330" cy="1437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0330" cy="1437640"/>
            </a:xfrm>
            <a:custGeom>
              <a:avLst/>
              <a:gdLst/>
              <a:ahLst/>
              <a:cxnLst/>
              <a:rect r="r" b="b" t="t" l="l"/>
              <a:pathLst>
                <a:path h="1437640" w="1370330">
                  <a:moveTo>
                    <a:pt x="767080" y="0"/>
                  </a:moveTo>
                  <a:lnTo>
                    <a:pt x="0" y="0"/>
                  </a:lnTo>
                  <a:lnTo>
                    <a:pt x="0" y="1437640"/>
                  </a:lnTo>
                  <a:lnTo>
                    <a:pt x="767080" y="1437640"/>
                  </a:lnTo>
                  <a:lnTo>
                    <a:pt x="1370330" y="718820"/>
                  </a:lnTo>
                  <a:lnTo>
                    <a:pt x="767080" y="0"/>
                  </a:lnTo>
                  <a:close/>
                </a:path>
              </a:pathLst>
            </a:custGeom>
            <a:solidFill>
              <a:srgbClr val="E7C671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0537185" y="1928813"/>
            <a:ext cx="5351032" cy="4193696"/>
          </a:xfrm>
          <a:custGeom>
            <a:avLst/>
            <a:gdLst/>
            <a:ahLst/>
            <a:cxnLst/>
            <a:rect r="r" b="b" t="t" l="l"/>
            <a:pathLst>
              <a:path h="4193696" w="5351032">
                <a:moveTo>
                  <a:pt x="0" y="0"/>
                </a:moveTo>
                <a:lnTo>
                  <a:pt x="5351032" y="0"/>
                </a:lnTo>
                <a:lnTo>
                  <a:pt x="5351032" y="4193695"/>
                </a:lnTo>
                <a:lnTo>
                  <a:pt x="0" y="41936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94" t="-27047" r="0" b="-1843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537185" y="6132033"/>
            <a:ext cx="5351032" cy="3585372"/>
          </a:xfrm>
          <a:custGeom>
            <a:avLst/>
            <a:gdLst/>
            <a:ahLst/>
            <a:cxnLst/>
            <a:rect r="r" b="b" t="t" l="l"/>
            <a:pathLst>
              <a:path h="3585372" w="5351032">
                <a:moveTo>
                  <a:pt x="0" y="0"/>
                </a:moveTo>
                <a:lnTo>
                  <a:pt x="5351032" y="0"/>
                </a:lnTo>
                <a:lnTo>
                  <a:pt x="5351032" y="3585372"/>
                </a:lnTo>
                <a:lnTo>
                  <a:pt x="0" y="35853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2051" r="-4175" b="-9626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320437" y="4690586"/>
            <a:ext cx="7191032" cy="214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 includes integrating LiDAR sensors for accurate depth sensing, along with GPS-based navigation and smartphone connectivity for enhanced real-time assistance.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2293" y="314325"/>
            <a:ext cx="6593454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00"/>
              </a:lnSpc>
              <a:spcBef>
                <a:spcPct val="0"/>
              </a:spcBef>
            </a:pPr>
            <a:r>
              <a:rPr lang="en-US" b="true" sz="7500">
                <a:solidFill>
                  <a:srgbClr val="E7C67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Scope</a:t>
            </a:r>
          </a:p>
        </p:txBody>
      </p:sp>
    </p:spTree>
  </p:cSld>
  <p:clrMapOvr>
    <a:masterClrMapping/>
  </p:clrMapOvr>
  <p:transition spd="fast">
    <p:push dir="l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691721" y="5876925"/>
            <a:ext cx="531495" cy="531495"/>
            <a:chOff x="0" y="0"/>
            <a:chExt cx="708660" cy="708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08660" cy="708660"/>
            </a:xfrm>
            <a:custGeom>
              <a:avLst/>
              <a:gdLst/>
              <a:ahLst/>
              <a:cxnLst/>
              <a:rect r="r" b="b" t="t" l="l"/>
              <a:pathLst>
                <a:path h="708660" w="708660">
                  <a:moveTo>
                    <a:pt x="0" y="354330"/>
                  </a:moveTo>
                  <a:cubicBezTo>
                    <a:pt x="0" y="158623"/>
                    <a:pt x="158623" y="0"/>
                    <a:pt x="354330" y="0"/>
                  </a:cubicBezTo>
                  <a:cubicBezTo>
                    <a:pt x="550037" y="0"/>
                    <a:pt x="708660" y="158623"/>
                    <a:pt x="708660" y="354330"/>
                  </a:cubicBezTo>
                  <a:cubicBezTo>
                    <a:pt x="708660" y="550037"/>
                    <a:pt x="550037" y="708660"/>
                    <a:pt x="354330" y="708660"/>
                  </a:cubicBezTo>
                  <a:cubicBezTo>
                    <a:pt x="158623" y="708660"/>
                    <a:pt x="0" y="550037"/>
                    <a:pt x="0" y="354330"/>
                  </a:cubicBezTo>
                  <a:close/>
                </a:path>
              </a:pathLst>
            </a:custGeom>
            <a:solidFill>
              <a:srgbClr val="E7C67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338006" y="5876925"/>
            <a:ext cx="531495" cy="531495"/>
            <a:chOff x="0" y="0"/>
            <a:chExt cx="708660" cy="7086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8660" cy="708660"/>
            </a:xfrm>
            <a:custGeom>
              <a:avLst/>
              <a:gdLst/>
              <a:ahLst/>
              <a:cxnLst/>
              <a:rect r="r" b="b" t="t" l="l"/>
              <a:pathLst>
                <a:path h="708660" w="708660">
                  <a:moveTo>
                    <a:pt x="0" y="354330"/>
                  </a:moveTo>
                  <a:cubicBezTo>
                    <a:pt x="0" y="158623"/>
                    <a:pt x="158623" y="0"/>
                    <a:pt x="354330" y="0"/>
                  </a:cubicBezTo>
                  <a:cubicBezTo>
                    <a:pt x="550037" y="0"/>
                    <a:pt x="708660" y="158623"/>
                    <a:pt x="708660" y="354330"/>
                  </a:cubicBezTo>
                  <a:cubicBezTo>
                    <a:pt x="708660" y="550037"/>
                    <a:pt x="550037" y="708660"/>
                    <a:pt x="354330" y="708660"/>
                  </a:cubicBezTo>
                  <a:cubicBezTo>
                    <a:pt x="158623" y="708660"/>
                    <a:pt x="0" y="550037"/>
                    <a:pt x="0" y="354330"/>
                  </a:cubicBezTo>
                  <a:close/>
                </a:path>
              </a:pathLst>
            </a:custGeom>
            <a:solidFill>
              <a:srgbClr val="E7C671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545357" y="3476625"/>
            <a:ext cx="15197286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99"/>
              </a:lnSpc>
              <a:spcBef>
                <a:spcPct val="0"/>
              </a:spcBef>
            </a:pPr>
            <a:r>
              <a:rPr lang="en-US" b="true" sz="99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 for your support</a:t>
            </a:r>
          </a:p>
        </p:txBody>
      </p:sp>
    </p:spTree>
  </p:cSld>
  <p:clrMapOvr>
    <a:masterClrMapping/>
  </p:clrMapOvr>
  <p:transition spd="fast">
    <p:circl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DAHEY73Mtsc</dc:identifier>
  <dcterms:modified xsi:type="dcterms:W3CDTF">2011-08-01T06:04:30Z</dcterms:modified>
  <cp:revision>1</cp:revision>
  <dc:title>Copy of Third Eye_ Edge-AI Based Assistive Navigation System.pptx</dc:title>
</cp:coreProperties>
</file>